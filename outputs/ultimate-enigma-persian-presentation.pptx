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58" y="-8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پوشش موضوعی</c:v>
          </c:tx>
          <c:spPr>
            <a:solidFill>
              <a:srgbClr val="0F766E"/>
            </a:solidFill>
          </c:spPr>
          <c:invertIfNegative val="1"/>
          <c:cat>
            <c:strLit>
              <c:ptCount val="5"/>
              <c:pt idx="0">
                <c:v>Crypto</c:v>
              </c:pt>
              <c:pt idx="1">
                <c:v>Services</c:v>
              </c:pt>
              <c:pt idx="2">
                <c:v>UI/Controllers</c:v>
              </c:pt>
              <c:pt idx="3">
                <c:v>Security</c:v>
              </c:pt>
              <c:pt idx="4">
                <c:v>Database</c:v>
              </c:pt>
            </c:strLit>
          </c:cat>
          <c:val>
            <c:numLit>
              <c:formatCode>General</c:formatCode>
              <c:ptCount val="5"/>
              <c:pt idx="0">
                <c:v>5</c:v>
              </c:pt>
              <c:pt idx="1">
                <c:v>5</c:v>
              </c:pt>
              <c:pt idx="2">
                <c:v>4</c:v>
              </c:pt>
              <c:pt idx="3">
                <c:v>5</c:v>
              </c:pt>
              <c:pt idx="4">
                <c:v>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741-4160-BCDF-0C749EAD16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E2D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A6B78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EEF5F4"/>
        </a:solidFill>
      </c:spPr>
    </c:plotArea>
    <c:plotVisOnly val="1"/>
    <c:dispBlanksAs val="zero"/>
    <c:showDLblsOverMax val="1"/>
  </c:chart>
  <c:spPr>
    <a:solidFill>
      <a:srgbClr val="EEF5F4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C537AE0-0139-4C97-B0B8-C962356CF6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290CA7-F565-436D-A116-0EB547EEDF9C}"/>
              </a:ext>
            </a:extLst>
          </p:cNvPr>
          <p:cNvSpPr>
            <a:spLocks noGrp="1"/>
          </p:cNvSpPr>
          <p:nvPr/>
        </p:nvSpPr>
        <p:spPr>
          <a:xfrm>
            <a:off x="0" y="5734050"/>
            <a:ext cx="12192000" cy="1123950"/>
          </a:xfrm>
          <a:prstGeom prst="rect">
            <a:avLst/>
          </a:prstGeom>
          <a:solidFill>
            <a:srgbClr val="0F2A35"/>
          </a:solidFill>
          <a:ln w="0">
            <a:solidFill>
              <a:srgbClr val="0F2A3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433E78-C372-4A54-BB48-8696845B010C}"/>
              </a:ext>
            </a:extLst>
          </p:cNvPr>
          <p:cNvSpPr>
            <a:spLocks noGrp="1"/>
          </p:cNvSpPr>
          <p:nvPr/>
        </p:nvSpPr>
        <p:spPr>
          <a:xfrm>
            <a:off x="2238375" y="1657350"/>
            <a:ext cx="8001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Ultimate Enigma Messenger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5D849C-5F52-4C0C-9AD6-E6A8387AE8EB}"/>
              </a:ext>
            </a:extLst>
          </p:cNvPr>
          <p:cNvSpPr>
            <a:spLocks noGrp="1"/>
          </p:cNvSpPr>
          <p:nvPr/>
        </p:nvSpPr>
        <p:spPr>
          <a:xfrm>
            <a:off x="2381250" y="2628900"/>
            <a:ext cx="7429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875" b="0">
                <a:solidFill>
                  <a:srgbClr val="DBE9E6"/>
                </a:solidFill>
                <a:latin typeface="Vazirmatn"/>
                <a:ea typeface="Vazirmatn"/>
                <a:cs typeface="Vazirmatn"/>
              </a:defRPr>
            </a:pPr>
            <a:r>
              <a:rPr sz="1875" b="0">
                <a:solidFill>
                  <a:srgbClr val="DBE9E6"/>
                </a:solidFill>
                <a:latin typeface="Vazirmatn"/>
                <a:ea typeface="Vazirmatn"/>
                <a:cs typeface="Vazirmatn"/>
              </a:rPr>
              <a:t>پیام‌رسان رمزنگاری‌شده، آفلاین و مقاوم در برابر تهدیدهای امروز و فردا</a:t>
            </a: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A81B81E0-B7A3-42DB-8001-5E906DC4191F}"/>
              </a:ext>
            </a:extLst>
          </p:cNvPr>
          <p:cNvSpPr>
            <a:spLocks noGrp="1"/>
          </p:cNvSpPr>
          <p:nvPr/>
        </p:nvSpPr>
        <p:spPr>
          <a:xfrm>
            <a:off x="5572125" y="3671888"/>
            <a:ext cx="1047750" cy="952500"/>
          </a:xfrm>
          <a:prstGeom prst="arc">
            <a:avLst/>
          </a:prstGeom>
          <a:noFill/>
          <a:ln w="83344">
            <a:solidFill>
              <a:srgbClr val="F4B942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5966C95-91AA-4743-9142-BCEE18117579}"/>
              </a:ext>
            </a:extLst>
          </p:cNvPr>
          <p:cNvSpPr>
            <a:spLocks noGrp="1"/>
          </p:cNvSpPr>
          <p:nvPr/>
        </p:nvSpPr>
        <p:spPr>
          <a:xfrm>
            <a:off x="5357813" y="4243388"/>
            <a:ext cx="1476375" cy="1095375"/>
          </a:xfrm>
          <a:prstGeom prst="roundRect">
            <a:avLst>
              <a:gd name="adj" fmla="val 1087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316048A-A63E-4124-B96E-87D1CB683E62}"/>
              </a:ext>
            </a:extLst>
          </p:cNvPr>
          <p:cNvSpPr>
            <a:spLocks noGrp="1"/>
          </p:cNvSpPr>
          <p:nvPr/>
        </p:nvSpPr>
        <p:spPr>
          <a:xfrm>
            <a:off x="5965031" y="4648200"/>
            <a:ext cx="261938" cy="261938"/>
          </a:xfrm>
          <a:prstGeom prst="ellipse">
            <a:avLst/>
          </a:prstGeom>
          <a:solidFill>
            <a:srgbClr val="081826"/>
          </a:solidFill>
          <a:ln w="0">
            <a:solidFill>
              <a:srgbClr val="08182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EF7D6D-07EF-47B2-9DCC-3D0C5D2D774E}"/>
              </a:ext>
            </a:extLst>
          </p:cNvPr>
          <p:cNvSpPr>
            <a:spLocks noGrp="1"/>
          </p:cNvSpPr>
          <p:nvPr/>
        </p:nvSpPr>
        <p:spPr>
          <a:xfrm>
            <a:off x="2686050" y="6029325"/>
            <a:ext cx="6819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B9C9C8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B9C9C8"/>
                </a:solidFill>
                <a:latin typeface="Aptos"/>
                <a:ea typeface="Aptos"/>
                <a:cs typeface="Aptos"/>
              </a:rPr>
              <a:t>Python • </a:t>
            </a:r>
            <a:r>
              <a:rPr sz="1275" b="0" dirty="0" err="1">
                <a:solidFill>
                  <a:srgbClr val="B9C9C8"/>
                </a:solidFill>
                <a:latin typeface="Aptos"/>
                <a:ea typeface="Aptos"/>
                <a:cs typeface="Aptos"/>
              </a:rPr>
              <a:t>Tkinter</a:t>
            </a:r>
            <a:r>
              <a:rPr sz="1275" b="0" dirty="0">
                <a:solidFill>
                  <a:srgbClr val="B9C9C8"/>
                </a:solidFill>
                <a:latin typeface="Aptos"/>
                <a:ea typeface="Aptos"/>
                <a:cs typeface="Aptos"/>
              </a:rPr>
              <a:t> • AES-GCM • RSA-OAEP • Double Ratchet • PQC</a:t>
            </a:r>
          </a:p>
        </p:txBody>
      </p:sp>
    </p:spTree>
    <p:extLst>
      <p:ext uri="{BB962C8B-B14F-4D97-AF65-F5344CB8AC3E}">
        <p14:creationId xmlns:p14="http://schemas.microsoft.com/office/powerpoint/2010/main" val="138645701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5EF3E3-F965-494B-9B26-E53FC5A065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5F4"/>
          </a:solidFill>
          <a:ln w="0">
            <a:solidFill>
              <a:srgbClr val="EEF5F4"/>
            </a:solidFill>
            <a:prstDash val="solid"/>
          </a:ln>
        </p:spPr>
        <p:txBody>
          <a:bodyPr/>
          <a:lstStyle/>
          <a:p>
            <a:r>
              <a:rPr lang="fa-IR" dirty="0"/>
              <a:t> 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A35F71-CB90-4C0F-96AD-768AE034AF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F4357-1EF1-45DF-84DF-94DDF4223D8D}"/>
              </a:ext>
            </a:extLst>
          </p:cNvPr>
          <p:cNvSpPr>
            <a:spLocks noGrp="1"/>
          </p:cNvSpPr>
          <p:nvPr/>
        </p:nvSpPr>
        <p:spPr>
          <a:xfrm>
            <a:off x="1428750" y="1762125"/>
            <a:ext cx="933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3600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3600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هنرستان فنی راه دانش مریوان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3949DD-7115-403A-A1FF-42D28DC5E9D2}"/>
              </a:ext>
            </a:extLst>
          </p:cNvPr>
          <p:cNvSpPr>
            <a:spLocks noGrp="1"/>
          </p:cNvSpPr>
          <p:nvPr/>
        </p:nvSpPr>
        <p:spPr>
          <a:xfrm>
            <a:off x="3333750" y="2762250"/>
            <a:ext cx="552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ctr" rtl="1">
              <a:lnSpc>
                <a:spcPct val="110000"/>
              </a:lnSpc>
              <a:buNone/>
              <a:defRPr sz="2625" b="1">
                <a:solidFill>
                  <a:srgbClr val="0F766E"/>
                </a:solidFill>
                <a:latin typeface="Vazirmatn"/>
                <a:ea typeface="Vazirmatn"/>
                <a:cs typeface="Vazirmatn"/>
              </a:defRPr>
            </a:pPr>
            <a:r>
              <a:rPr lang="fa-IR" sz="2625" b="1" dirty="0">
                <a:solidFill>
                  <a:srgbClr val="0F766E"/>
                </a:solidFill>
                <a:latin typeface="Vazirmatn"/>
                <a:ea typeface="Vazirmatn"/>
                <a:cs typeface="Vazirmatn"/>
              </a:rPr>
              <a:t>بهار 1405 هجری شمسی</a:t>
            </a:r>
            <a:endParaRPr sz="2625" b="1" dirty="0">
              <a:solidFill>
                <a:srgbClr val="0F766E"/>
              </a:solidFill>
              <a:latin typeface="Vazirmatn"/>
              <a:ea typeface="Vazirmatn"/>
              <a:cs typeface="Vazirmatn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A96F57-23E4-456D-B5DB-A72E09ABEFB3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7429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6C4369-6AB5-48D7-97AE-064E42586166}"/>
              </a:ext>
            </a:extLst>
          </p:cNvPr>
          <p:cNvSpPr>
            <a:spLocks noGrp="1"/>
          </p:cNvSpPr>
          <p:nvPr/>
        </p:nvSpPr>
        <p:spPr>
          <a:xfrm>
            <a:off x="2647950" y="4257675"/>
            <a:ext cx="6896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1800" b="0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800" b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ارائه پروژه نرم‌افزاری در حوزه امنیت، رمزنگاری و پیام‌رسانی امن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3437E-8237-43AB-9DA5-255C6BC1D423}"/>
              </a:ext>
            </a:extLst>
          </p:cNvPr>
          <p:cNvSpPr>
            <a:spLocks noGrp="1"/>
          </p:cNvSpPr>
          <p:nvPr/>
        </p:nvSpPr>
        <p:spPr>
          <a:xfrm>
            <a:off x="7858125" y="64389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00" b="0">
                <a:solidFill>
                  <a:srgbClr val="5A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B78"/>
                </a:solidFill>
                <a:latin typeface="Aptos"/>
                <a:ea typeface="Aptos"/>
                <a:cs typeface="Aptos"/>
              </a:rPr>
              <a:t>Ultimate Enigma Messenger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63A001-96C8-4D44-BC61-DF0628622CFA}"/>
              </a:ext>
            </a:extLst>
          </p:cNvPr>
          <p:cNvSpPr>
            <a:spLocks noGrp="1"/>
          </p:cNvSpPr>
          <p:nvPr/>
        </p:nvSpPr>
        <p:spPr>
          <a:xfrm>
            <a:off x="704850" y="6457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6084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922E46-AF0C-4188-A29E-A72AB3A27D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5F4"/>
          </a:solidFill>
          <a:ln w="0">
            <a:solidFill>
              <a:srgbClr val="EEF5F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B074D5-AD01-44B7-BB97-959AC0E8E3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A253EC-C82E-4DB6-A923-ED922DBABF94}"/>
              </a:ext>
            </a:extLst>
          </p:cNvPr>
          <p:cNvSpPr>
            <a:spLocks noGrp="1"/>
          </p:cNvSpPr>
          <p:nvPr/>
        </p:nvSpPr>
        <p:spPr>
          <a:xfrm>
            <a:off x="1524000" y="1381125"/>
            <a:ext cx="914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99935"/>
          </a:bodyPr>
          <a:lstStyle/>
          <a:p>
            <a:pPr algn="ctr">
              <a:lnSpc>
                <a:spcPct val="110000"/>
              </a:lnSpc>
              <a:buNone/>
              <a:defRPr sz="3525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3525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آرتین احسان بخش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943DDA-20D9-4B4D-86B8-36A2C3F754FA}"/>
              </a:ext>
            </a:extLst>
          </p:cNvPr>
          <p:cNvSpPr>
            <a:spLocks noGrp="1"/>
          </p:cNvSpPr>
          <p:nvPr/>
        </p:nvSpPr>
        <p:spPr>
          <a:xfrm>
            <a:off x="1524000" y="2247900"/>
            <a:ext cx="914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2325" b="0">
                <a:solidFill>
                  <a:srgbClr val="0F766E"/>
                </a:solidFill>
                <a:latin typeface="Vazirmatn"/>
                <a:ea typeface="Vazirmatn"/>
                <a:cs typeface="Vazirmatn"/>
              </a:defRPr>
            </a:pPr>
            <a:r>
              <a:rPr sz="2325" b="0">
                <a:solidFill>
                  <a:srgbClr val="0F766E"/>
                </a:solidFill>
                <a:latin typeface="Vazirmatn"/>
                <a:ea typeface="Vazirmatn"/>
                <a:cs typeface="Vazirmatn"/>
              </a:rPr>
              <a:t>دانش‌آموز پایه دهم رشته شبکه و نرم‌افزار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8A458D-B7FA-43C3-9F09-D1725243D7DA}"/>
              </a:ext>
            </a:extLst>
          </p:cNvPr>
          <p:cNvSpPr>
            <a:spLocks noGrp="1"/>
          </p:cNvSpPr>
          <p:nvPr/>
        </p:nvSpPr>
        <p:spPr>
          <a:xfrm>
            <a:off x="1524000" y="2895600"/>
            <a:ext cx="914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97403"/>
          </a:bodyPr>
          <a:lstStyle/>
          <a:p>
            <a:pPr algn="ctr">
              <a:lnSpc>
                <a:spcPct val="110000"/>
              </a:lnSpc>
              <a:buNone/>
              <a:defRPr sz="2100" b="0">
                <a:solidFill>
                  <a:srgbClr val="5A6B78"/>
                </a:solidFill>
                <a:latin typeface="Vazirmatn"/>
                <a:ea typeface="Vazirmatn"/>
                <a:cs typeface="Vazirmatn"/>
              </a:defRPr>
            </a:pPr>
            <a:r>
              <a:rPr sz="2100" b="0">
                <a:solidFill>
                  <a:srgbClr val="5A6B78"/>
                </a:solidFill>
                <a:latin typeface="Vazirmatn"/>
                <a:ea typeface="Vazirmatn"/>
                <a:cs typeface="Vazirmatn"/>
              </a:rPr>
              <a:t>شهرستان مریوان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199F00-E188-494A-980E-8220A99C7EA5}"/>
              </a:ext>
            </a:extLst>
          </p:cNvPr>
          <p:cNvSpPr>
            <a:spLocks noGrp="1"/>
          </p:cNvSpPr>
          <p:nvPr/>
        </p:nvSpPr>
        <p:spPr>
          <a:xfrm>
            <a:off x="2857500" y="4114800"/>
            <a:ext cx="64770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4345F8-961E-4E32-8051-3AA7D13A9E58}"/>
              </a:ext>
            </a:extLst>
          </p:cNvPr>
          <p:cNvSpPr>
            <a:spLocks noGrp="1"/>
          </p:cNvSpPr>
          <p:nvPr/>
        </p:nvSpPr>
        <p:spPr>
          <a:xfrm>
            <a:off x="3181350" y="4333875"/>
            <a:ext cx="5829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73445" lnSpcReduction="20000"/>
          </a:bodyPr>
          <a:lstStyle/>
          <a:p>
            <a:pPr algn="ctr">
              <a:lnSpc>
                <a:spcPct val="110000"/>
              </a:lnSpc>
              <a:buNone/>
              <a:defRPr sz="1575" b="0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575" b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تمرکز پروژه: ساخت یک ابزار محلی برای رمزنگاری پیام، فایل، کلیدها و ارتباط امن میان دوستان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4C930D-CD8F-42C9-A2B8-D62ED5A6023D}"/>
              </a:ext>
            </a:extLst>
          </p:cNvPr>
          <p:cNvSpPr>
            <a:spLocks noGrp="1"/>
          </p:cNvSpPr>
          <p:nvPr/>
        </p:nvSpPr>
        <p:spPr>
          <a:xfrm>
            <a:off x="7858125" y="64389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00" b="0">
                <a:solidFill>
                  <a:srgbClr val="5A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B78"/>
                </a:solidFill>
                <a:latin typeface="Aptos"/>
                <a:ea typeface="Aptos"/>
                <a:cs typeface="Aptos"/>
              </a:rPr>
              <a:t>Ultimate Enigma Messenger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AC2A20-9F9E-46B6-B4C4-6259374D4ADD}"/>
              </a:ext>
            </a:extLst>
          </p:cNvPr>
          <p:cNvSpPr>
            <a:spLocks noGrp="1"/>
          </p:cNvSpPr>
          <p:nvPr/>
        </p:nvSpPr>
        <p:spPr>
          <a:xfrm>
            <a:off x="704850" y="6457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46321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BACC134-B887-4AC5-AE68-3F6BE33C98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5F4"/>
          </a:solidFill>
          <a:ln w="0">
            <a:solidFill>
              <a:srgbClr val="EEF5F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F4B4B5-E053-4974-B8FA-C9E53A2490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56C060-9AED-4125-BE38-8F0679758FC8}"/>
              </a:ext>
            </a:extLst>
          </p:cNvPr>
          <p:cNvSpPr>
            <a:spLocks noGrp="1"/>
          </p:cNvSpPr>
          <p:nvPr/>
        </p:nvSpPr>
        <p:spPr>
          <a:xfrm>
            <a:off x="4953000" y="22860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2475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2475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مسئله‌ای که پروژه حل می‌کند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40C0F-5CDA-45B3-9728-51C59217C919}"/>
              </a:ext>
            </a:extLst>
          </p:cNvPr>
          <p:cNvSpPr>
            <a:spLocks noGrp="1"/>
          </p:cNvSpPr>
          <p:nvPr/>
        </p:nvSpPr>
        <p:spPr>
          <a:xfrm>
            <a:off x="838200" y="30480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200" b="0">
                <a:solidFill>
                  <a:srgbClr val="5A6B78"/>
                </a:solidFill>
                <a:latin typeface="Vazirmatn"/>
                <a:ea typeface="Vazirmatn"/>
                <a:cs typeface="Vazirmatn"/>
              </a:defRPr>
            </a:pPr>
            <a:r>
              <a:rPr sz="1200" b="0">
                <a:solidFill>
                  <a:srgbClr val="5A6B78"/>
                </a:solidFill>
                <a:latin typeface="Vazirmatn"/>
                <a:ea typeface="Vazirmatn"/>
                <a:cs typeface="Vazirmatn"/>
              </a:rPr>
              <a:t>امنیت در ارتباطات شخصی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9C1BD2-88AF-4625-BC0D-6AAC44F880DC}"/>
              </a:ext>
            </a:extLst>
          </p:cNvPr>
          <p:cNvSpPr>
            <a:spLocks noGrp="1"/>
          </p:cNvSpPr>
          <p:nvPr/>
        </p:nvSpPr>
        <p:spPr>
          <a:xfrm>
            <a:off x="6905625" y="1381125"/>
            <a:ext cx="419100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EE0A06-D0F1-48F4-9517-EB244F61853C}"/>
              </a:ext>
            </a:extLst>
          </p:cNvPr>
          <p:cNvSpPr>
            <a:spLocks noGrp="1"/>
          </p:cNvSpPr>
          <p:nvPr/>
        </p:nvSpPr>
        <p:spPr>
          <a:xfrm>
            <a:off x="9525000" y="16192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89571" lnSpcReduction="10000"/>
          </a:bodyPr>
          <a:lstStyle/>
          <a:p>
            <a:pPr algn="r">
              <a:lnSpc>
                <a:spcPct val="110000"/>
              </a:lnSpc>
              <a:buNone/>
              <a:defRPr sz="1800" b="1">
                <a:solidFill>
                  <a:srgbClr val="C2410C"/>
                </a:solidFill>
                <a:latin typeface="Vazirmatn"/>
                <a:ea typeface="Vazirmatn"/>
                <a:cs typeface="Vazirmatn"/>
              </a:defRPr>
            </a:pPr>
            <a:r>
              <a:rPr sz="1800" b="1">
                <a:solidFill>
                  <a:srgbClr val="C2410C"/>
                </a:solidFill>
                <a:latin typeface="Vazirmatn"/>
                <a:ea typeface="Vazirmatn"/>
                <a:cs typeface="Vazirmatn"/>
              </a:rPr>
              <a:t>چالش‌ها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95389F-A635-41DD-A882-DA9ACDA2755A}"/>
              </a:ext>
            </a:extLst>
          </p:cNvPr>
          <p:cNvSpPr>
            <a:spLocks noGrp="1"/>
          </p:cNvSpPr>
          <p:nvPr/>
        </p:nvSpPr>
        <p:spPr>
          <a:xfrm>
            <a:off x="7286625" y="2095500"/>
            <a:ext cx="3381375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114300" bIns="38100">
            <a:normAutofit/>
          </a:bodyPr>
          <a:lstStyle/>
          <a:p>
            <a:pPr marL="22" indent="-12" algn="r">
              <a:lnSpc>
                <a:spcPct val="125000"/>
              </a:lnSpc>
              <a:buNone/>
              <a:defRPr sz="1500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50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پیام‌های معمولی در مسیر یا روی دستگاه قابل افشا هستند</a:t>
            </a:r>
          </a:p>
          <a:p>
            <a:pPr marL="22" indent="-12" algn="r">
              <a:lnSpc>
                <a:spcPct val="125000"/>
              </a:lnSpc>
              <a:buNone/>
              <a:defRPr sz="1500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50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رمز عبور ضعیف و ذخیره‌سازی ساده کلیدها خطرناک است</a:t>
            </a:r>
          </a:p>
          <a:p>
            <a:pPr marL="22" indent="-12" algn="r">
              <a:lnSpc>
                <a:spcPct val="125000"/>
              </a:lnSpc>
              <a:buNone/>
              <a:defRPr sz="1500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50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حمله‌های آینده با رایانه‌های کوانتومی باید از امروز جدی گرفته شوند</a:t>
            </a:r>
          </a:p>
          <a:p>
            <a:pPr marL="22" indent="-12" algn="r">
              <a:lnSpc>
                <a:spcPct val="125000"/>
              </a:lnSpc>
              <a:buNone/>
              <a:defRPr sz="1500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50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رابط کاربری امنیتی اگر سخت باشد، درست استفاده نمی‌شود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46AA606-4E2A-4342-960F-8B4FB80FC6C4}"/>
              </a:ext>
            </a:extLst>
          </p:cNvPr>
          <p:cNvSpPr>
            <a:spLocks noGrp="1"/>
          </p:cNvSpPr>
          <p:nvPr/>
        </p:nvSpPr>
        <p:spPr>
          <a:xfrm>
            <a:off x="1095375" y="1381125"/>
            <a:ext cx="4953000" cy="3714750"/>
          </a:xfrm>
          <a:prstGeom prst="roundRect">
            <a:avLst>
              <a:gd name="adj" fmla="val 2051"/>
            </a:avLst>
          </a:prstGeom>
          <a:solidFill>
            <a:srgbClr val="081826"/>
          </a:solidFill>
          <a:ln w="9525">
            <a:solidFill>
              <a:srgbClr val="1739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D32D66-04D6-4C44-AB27-5D09B4F82C10}"/>
              </a:ext>
            </a:extLst>
          </p:cNvPr>
          <p:cNvSpPr>
            <a:spLocks noGrp="1"/>
          </p:cNvSpPr>
          <p:nvPr/>
        </p:nvSpPr>
        <p:spPr>
          <a:xfrm>
            <a:off x="3429000" y="16573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99491" lnSpcReduction="10000"/>
          </a:bodyPr>
          <a:lstStyle/>
          <a:p>
            <a:pPr algn="r">
              <a:lnSpc>
                <a:spcPct val="110000"/>
              </a:lnSpc>
              <a:buNone/>
              <a:defRPr sz="2100" b="1">
                <a:solidFill>
                  <a:srgbClr val="FFFFFF"/>
                </a:solidFill>
                <a:latin typeface="Vazirmatn"/>
                <a:ea typeface="Vazirmatn"/>
                <a:cs typeface="Vazirmatn"/>
              </a:defRPr>
            </a:pPr>
            <a:r>
              <a:rPr sz="210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ایده اصلی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0721CD-E0B5-429D-84A5-4205962E8F86}"/>
              </a:ext>
            </a:extLst>
          </p:cNvPr>
          <p:cNvSpPr>
            <a:spLocks noGrp="1"/>
          </p:cNvSpPr>
          <p:nvPr/>
        </p:nvSpPr>
        <p:spPr>
          <a:xfrm>
            <a:off x="1476375" y="2238375"/>
            <a:ext cx="409575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875" b="0">
                <a:solidFill>
                  <a:srgbClr val="E8F3EF"/>
                </a:solidFill>
                <a:latin typeface="Vazirmatn"/>
                <a:ea typeface="Vazirmatn"/>
                <a:cs typeface="Vazirmatn"/>
              </a:defRPr>
            </a:pPr>
            <a:r>
              <a:rPr sz="1875" b="0">
                <a:solidFill>
                  <a:srgbClr val="E8F3EF"/>
                </a:solidFill>
                <a:latin typeface="Vazirmatn"/>
                <a:ea typeface="Vazirmatn"/>
                <a:cs typeface="Vazirmatn"/>
              </a:rPr>
              <a:t>یک پیام‌رسان آفلاین که انتقال پیام را به کاربر واگذار می‌کند، اما رمزنگاری، امضا، مدیریت کلید، دوستان و فایل‌ها را در یک محیط گرافیکی امن انجام می‌دهد.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CE1074B-D7C9-49FA-B2A6-5D5E4D83406C}"/>
              </a:ext>
            </a:extLst>
          </p:cNvPr>
          <p:cNvSpPr>
            <a:spLocks noGrp="1"/>
          </p:cNvSpPr>
          <p:nvPr/>
        </p:nvSpPr>
        <p:spPr>
          <a:xfrm>
            <a:off x="1952625" y="4171950"/>
            <a:ext cx="3143250" cy="323850"/>
          </a:xfrm>
          <a:prstGeom prst="roundRect">
            <a:avLst>
              <a:gd name="adj" fmla="val 47059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 anchor="ctr">
            <a:normAutofit fontScale="96949" lnSpcReduction="10000"/>
          </a:bodyPr>
          <a:lstStyle/>
          <a:p>
            <a:pPr algn="ctr">
              <a:buNone/>
              <a:defRPr sz="1050" b="1">
                <a:solidFill>
                  <a:srgbClr val="081826"/>
                </a:solidFill>
                <a:latin typeface="Vazirmatn"/>
                <a:ea typeface="Vazirmatn"/>
                <a:cs typeface="Vazirmatn"/>
              </a:defRPr>
            </a:pPr>
            <a:r>
              <a:rPr sz="1050" b="1">
                <a:solidFill>
                  <a:srgbClr val="081826"/>
                </a:solidFill>
                <a:latin typeface="Vazirmatn"/>
                <a:ea typeface="Vazirmatn"/>
                <a:cs typeface="Vazirmatn"/>
              </a:rPr>
              <a:t>حریم خصوصی، نه شعار؛ یک طراحی مهندسی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A8B553-50A3-4281-AF51-2BEB0BCB8FA9}"/>
              </a:ext>
            </a:extLst>
          </p:cNvPr>
          <p:cNvSpPr>
            <a:spLocks noGrp="1"/>
          </p:cNvSpPr>
          <p:nvPr/>
        </p:nvSpPr>
        <p:spPr>
          <a:xfrm>
            <a:off x="7858125" y="64389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00" b="0">
                <a:solidFill>
                  <a:srgbClr val="5A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B78"/>
                </a:solidFill>
                <a:latin typeface="Aptos"/>
                <a:ea typeface="Aptos"/>
                <a:cs typeface="Aptos"/>
              </a:rPr>
              <a:t>Ultimate Enigma Messenger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957E06-C9B5-4ED1-8350-49CB23C59D79}"/>
              </a:ext>
            </a:extLst>
          </p:cNvPr>
          <p:cNvSpPr>
            <a:spLocks noGrp="1"/>
          </p:cNvSpPr>
          <p:nvPr/>
        </p:nvSpPr>
        <p:spPr>
          <a:xfrm>
            <a:off x="704850" y="6457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63256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F53E5B5-6769-4943-94BA-4E43E1CC95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5F4"/>
          </a:solidFill>
          <a:ln w="0">
            <a:solidFill>
              <a:srgbClr val="EEF5F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E79B2E-C993-4D90-8C45-877CC02DD6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762940-CE3F-47F7-8DD7-E9ABF8375FEB}"/>
              </a:ext>
            </a:extLst>
          </p:cNvPr>
          <p:cNvSpPr>
            <a:spLocks noGrp="1"/>
          </p:cNvSpPr>
          <p:nvPr/>
        </p:nvSpPr>
        <p:spPr>
          <a:xfrm>
            <a:off x="4953000" y="22860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2475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2475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نمای کلی راه‌حل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2BBA07-2B7A-41FC-AFD9-0C3125ACA8AD}"/>
              </a:ext>
            </a:extLst>
          </p:cNvPr>
          <p:cNvSpPr>
            <a:spLocks noGrp="1"/>
          </p:cNvSpPr>
          <p:nvPr/>
        </p:nvSpPr>
        <p:spPr>
          <a:xfrm>
            <a:off x="838200" y="30480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200" b="0">
                <a:solidFill>
                  <a:srgbClr val="5A6B78"/>
                </a:solidFill>
                <a:latin typeface="Vazirmatn"/>
                <a:ea typeface="Vazirmatn"/>
                <a:cs typeface="Vazirmatn"/>
              </a:defRPr>
            </a:pPr>
            <a:r>
              <a:rPr sz="1200" b="0">
                <a:solidFill>
                  <a:srgbClr val="5A6B78"/>
                </a:solidFill>
                <a:latin typeface="Vazirmatn"/>
                <a:ea typeface="Vazirmatn"/>
                <a:cs typeface="Vazirmatn"/>
              </a:rPr>
              <a:t>از متن ساده تا بسته رمزنگاری‌شده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2B3726-6794-4DEA-AEBD-5D372F8BC993}"/>
              </a:ext>
            </a:extLst>
          </p:cNvPr>
          <p:cNvSpPr>
            <a:spLocks noGrp="1"/>
          </p:cNvSpPr>
          <p:nvPr/>
        </p:nvSpPr>
        <p:spPr>
          <a:xfrm>
            <a:off x="8477250" y="2095500"/>
            <a:ext cx="1714500" cy="876300"/>
          </a:xfrm>
          <a:prstGeom prst="roundRect">
            <a:avLst>
              <a:gd name="adj" fmla="val 8696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E034EF-F659-4EF9-BD14-90B7B60FE773}"/>
              </a:ext>
            </a:extLst>
          </p:cNvPr>
          <p:cNvSpPr>
            <a:spLocks noGrp="1"/>
          </p:cNvSpPr>
          <p:nvPr/>
        </p:nvSpPr>
        <p:spPr>
          <a:xfrm>
            <a:off x="10106025" y="2095500"/>
            <a:ext cx="85725" cy="876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27E432-2DF8-441A-AEC7-7D7315D8B93A}"/>
              </a:ext>
            </a:extLst>
          </p:cNvPr>
          <p:cNvSpPr>
            <a:spLocks noGrp="1"/>
          </p:cNvSpPr>
          <p:nvPr/>
        </p:nvSpPr>
        <p:spPr>
          <a:xfrm>
            <a:off x="8629650" y="2257425"/>
            <a:ext cx="139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متن یا فایل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E26F0B-A49F-48D2-8675-AADBC11278B5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1714500" cy="876300"/>
          </a:xfrm>
          <a:prstGeom prst="roundRect">
            <a:avLst>
              <a:gd name="adj" fmla="val 8696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0D9905-7274-4441-B959-D5148795BB6E}"/>
              </a:ext>
            </a:extLst>
          </p:cNvPr>
          <p:cNvSpPr>
            <a:spLocks noGrp="1"/>
          </p:cNvSpPr>
          <p:nvPr/>
        </p:nvSpPr>
        <p:spPr>
          <a:xfrm>
            <a:off x="7820025" y="2095500"/>
            <a:ext cx="85725" cy="876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70C823-1706-484F-A167-CABA8450B512}"/>
              </a:ext>
            </a:extLst>
          </p:cNvPr>
          <p:cNvSpPr>
            <a:spLocks noGrp="1"/>
          </p:cNvSpPr>
          <p:nvPr/>
        </p:nvSpPr>
        <p:spPr>
          <a:xfrm>
            <a:off x="6343650" y="2257425"/>
            <a:ext cx="139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کلید نشست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590B237-8D2A-4E07-B4FA-157DF03685E8}"/>
              </a:ext>
            </a:extLst>
          </p:cNvPr>
          <p:cNvSpPr>
            <a:spLocks noGrp="1"/>
          </p:cNvSpPr>
          <p:nvPr/>
        </p:nvSpPr>
        <p:spPr>
          <a:xfrm>
            <a:off x="3905250" y="2095500"/>
            <a:ext cx="1714500" cy="876300"/>
          </a:xfrm>
          <a:prstGeom prst="roundRect">
            <a:avLst>
              <a:gd name="adj" fmla="val 8696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9C5470-8A07-4426-8D44-6D0555F1112B}"/>
              </a:ext>
            </a:extLst>
          </p:cNvPr>
          <p:cNvSpPr>
            <a:spLocks noGrp="1"/>
          </p:cNvSpPr>
          <p:nvPr/>
        </p:nvSpPr>
        <p:spPr>
          <a:xfrm>
            <a:off x="4057650" y="2257425"/>
            <a:ext cx="139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رمزنگاری و امضا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42D6521-94AC-4AB6-8578-030A1A0FE365}"/>
              </a:ext>
            </a:extLst>
          </p:cNvPr>
          <p:cNvSpPr>
            <a:spLocks noGrp="1"/>
          </p:cNvSpPr>
          <p:nvPr/>
        </p:nvSpPr>
        <p:spPr>
          <a:xfrm>
            <a:off x="1619250" y="2095500"/>
            <a:ext cx="1714500" cy="876300"/>
          </a:xfrm>
          <a:prstGeom prst="roundRect">
            <a:avLst>
              <a:gd name="adj" fmla="val 8696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2663CB-0FCC-4CF9-BA97-FE330E66F257}"/>
              </a:ext>
            </a:extLst>
          </p:cNvPr>
          <p:cNvSpPr>
            <a:spLocks noGrp="1"/>
          </p:cNvSpPr>
          <p:nvPr/>
        </p:nvSpPr>
        <p:spPr>
          <a:xfrm>
            <a:off x="3248025" y="2095500"/>
            <a:ext cx="85725" cy="876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00F45F-5CEA-4593-9F5D-ECF787AED8F8}"/>
              </a:ext>
            </a:extLst>
          </p:cNvPr>
          <p:cNvSpPr>
            <a:spLocks noGrp="1"/>
          </p:cNvSpPr>
          <p:nvPr/>
        </p:nvSpPr>
        <p:spPr>
          <a:xfrm>
            <a:off x="1771650" y="2257425"/>
            <a:ext cx="139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خروجی امن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C99D208-EACF-453A-8E80-F62425DA5F96}"/>
              </a:ext>
            </a:extLst>
          </p:cNvPr>
          <p:cNvSpPr>
            <a:spLocks noGrp="1"/>
          </p:cNvSpPr>
          <p:nvPr/>
        </p:nvSpPr>
        <p:spPr>
          <a:xfrm>
            <a:off x="8477250" y="2533650"/>
            <a:ext cx="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6109D70-048B-43EC-8C11-ABB88F3630DA}"/>
              </a:ext>
            </a:extLst>
          </p:cNvPr>
          <p:cNvSpPr>
            <a:spLocks noGrp="1"/>
          </p:cNvSpPr>
          <p:nvPr/>
        </p:nvSpPr>
        <p:spPr>
          <a:xfrm rot="16200000">
            <a:off x="10120313" y="2466973"/>
            <a:ext cx="142875" cy="133350"/>
          </a:xfrm>
          <a:prstGeom prst="triangl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4B0618FE-4A69-4D15-953D-D771E620C75B}"/>
              </a:ext>
            </a:extLst>
          </p:cNvPr>
          <p:cNvSpPr>
            <a:spLocks noGrp="1"/>
          </p:cNvSpPr>
          <p:nvPr/>
        </p:nvSpPr>
        <p:spPr>
          <a:xfrm>
            <a:off x="6191250" y="2533650"/>
            <a:ext cx="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63F3F3C-7CAB-4AEF-82A9-9F9F8A0D4955}"/>
              </a:ext>
            </a:extLst>
          </p:cNvPr>
          <p:cNvSpPr>
            <a:spLocks noGrp="1"/>
          </p:cNvSpPr>
          <p:nvPr/>
        </p:nvSpPr>
        <p:spPr>
          <a:xfrm rot="16200000">
            <a:off x="5534025" y="2466975"/>
            <a:ext cx="142875" cy="133350"/>
          </a:xfrm>
          <a:prstGeom prst="triangl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B8469092-6F5E-400D-AEE4-E161E65C4FCD}"/>
              </a:ext>
            </a:extLst>
          </p:cNvPr>
          <p:cNvSpPr>
            <a:spLocks noGrp="1"/>
          </p:cNvSpPr>
          <p:nvPr/>
        </p:nvSpPr>
        <p:spPr>
          <a:xfrm>
            <a:off x="3905250" y="2533650"/>
            <a:ext cx="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D238CF40-6B33-4840-9435-4D97BD12C154}"/>
              </a:ext>
            </a:extLst>
          </p:cNvPr>
          <p:cNvSpPr>
            <a:spLocks noGrp="1"/>
          </p:cNvSpPr>
          <p:nvPr/>
        </p:nvSpPr>
        <p:spPr>
          <a:xfrm rot="16200000">
            <a:off x="3248025" y="2466975"/>
            <a:ext cx="142875" cy="133350"/>
          </a:xfrm>
          <a:prstGeom prst="triangl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FD62A6-C5A4-4A5C-BD91-E3DC6A391D9E}"/>
              </a:ext>
            </a:extLst>
          </p:cNvPr>
          <p:cNvSpPr>
            <a:spLocks noGrp="1"/>
          </p:cNvSpPr>
          <p:nvPr/>
        </p:nvSpPr>
        <p:spPr>
          <a:xfrm>
            <a:off x="1762125" y="3810000"/>
            <a:ext cx="8667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114300" bIns="38100">
            <a:normAutofit/>
          </a:bodyPr>
          <a:lstStyle/>
          <a:p>
            <a:pPr marL="22" indent="-12" algn="r">
              <a:lnSpc>
                <a:spcPct val="125000"/>
              </a:lnSpc>
              <a:buNone/>
              <a:defRPr sz="172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AES-256-GCM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برای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رمزنگاری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سریع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پیام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و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فایل</a:t>
            </a:r>
            <a:endParaRPr sz="1725" dirty="0">
              <a:solidFill>
                <a:srgbClr val="142335"/>
              </a:solidFill>
              <a:latin typeface="Vazirmatn"/>
              <a:ea typeface="Vazirmatn"/>
              <a:cs typeface="Vazirmatn"/>
            </a:endParaRPr>
          </a:p>
          <a:p>
            <a:pPr marL="22" indent="-12" algn="r">
              <a:lnSpc>
                <a:spcPct val="125000"/>
              </a:lnSpc>
              <a:buNone/>
              <a:defRPr sz="172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RSA-OAEP و X25519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برای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تبادل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یا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پوشش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کلید</a:t>
            </a:r>
            <a:endParaRPr sz="1725" dirty="0">
              <a:solidFill>
                <a:srgbClr val="142335"/>
              </a:solidFill>
              <a:latin typeface="Vazirmatn"/>
              <a:ea typeface="Vazirmatn"/>
              <a:cs typeface="Vazirmatn"/>
            </a:endParaRPr>
          </a:p>
          <a:p>
            <a:pPr marL="22" indent="-12" algn="r">
              <a:lnSpc>
                <a:spcPct val="125000"/>
              </a:lnSpc>
              <a:buNone/>
              <a:defRPr sz="172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پروتکل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رتچ</a:t>
            </a:r>
            <a:r>
              <a:rPr lang="fa-IR"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ت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دوگانه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برای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محرمانگی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رو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به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جلو</a:t>
            </a:r>
            <a:endParaRPr sz="1725" dirty="0">
              <a:solidFill>
                <a:srgbClr val="142335"/>
              </a:solidFill>
              <a:latin typeface="Vazirmatn"/>
              <a:ea typeface="Vazirmatn"/>
              <a:cs typeface="Vazirmatn"/>
            </a:endParaRPr>
          </a:p>
          <a:p>
            <a:pPr marL="22" indent="-12" algn="r">
              <a:lnSpc>
                <a:spcPct val="125000"/>
              </a:lnSpc>
              <a:buNone/>
              <a:defRPr sz="172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الگوریتم‌های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پساکوانتومی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برای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امنیت</a:t>
            </a:r>
            <a:r>
              <a:rPr sz="1725" dirty="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725" dirty="0" err="1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آینده</a:t>
            </a:r>
            <a:endParaRPr sz="1725" dirty="0">
              <a:solidFill>
                <a:srgbClr val="142335"/>
              </a:solidFill>
              <a:latin typeface="Vazirmatn"/>
              <a:ea typeface="Vazirmatn"/>
              <a:cs typeface="Vazirmatn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F8EE75-F4DC-4493-8387-60A4D39C144A}"/>
              </a:ext>
            </a:extLst>
          </p:cNvPr>
          <p:cNvSpPr>
            <a:spLocks noGrp="1"/>
          </p:cNvSpPr>
          <p:nvPr/>
        </p:nvSpPr>
        <p:spPr>
          <a:xfrm>
            <a:off x="7858125" y="64389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00" b="0">
                <a:solidFill>
                  <a:srgbClr val="5A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B78"/>
                </a:solidFill>
                <a:latin typeface="Aptos"/>
                <a:ea typeface="Aptos"/>
                <a:cs typeface="Aptos"/>
              </a:rPr>
              <a:t>Ultimate Enigma Messenger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8BD874-C38F-452A-8FE4-46DC9CF24CB4}"/>
              </a:ext>
            </a:extLst>
          </p:cNvPr>
          <p:cNvSpPr>
            <a:spLocks noGrp="1"/>
          </p:cNvSpPr>
          <p:nvPr/>
        </p:nvSpPr>
        <p:spPr>
          <a:xfrm>
            <a:off x="704850" y="6457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1331270-9C2A-D3AF-7BFC-6658806C1A07}"/>
              </a:ext>
            </a:extLst>
          </p:cNvPr>
          <p:cNvSpPr>
            <a:spLocks noGrp="1"/>
          </p:cNvSpPr>
          <p:nvPr/>
        </p:nvSpPr>
        <p:spPr>
          <a:xfrm rot="16200000">
            <a:off x="7834312" y="2466973"/>
            <a:ext cx="142875" cy="133350"/>
          </a:xfrm>
          <a:prstGeom prst="triangl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FB6C6C-ADD6-6162-EB15-8B350CFB38F0}"/>
              </a:ext>
            </a:extLst>
          </p:cNvPr>
          <p:cNvSpPr>
            <a:spLocks noGrp="1"/>
          </p:cNvSpPr>
          <p:nvPr/>
        </p:nvSpPr>
        <p:spPr>
          <a:xfrm>
            <a:off x="5524500" y="2095500"/>
            <a:ext cx="85725" cy="876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966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416BB57-F646-4B6B-B4A6-016230EE80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5F4"/>
          </a:solidFill>
          <a:ln w="0">
            <a:solidFill>
              <a:srgbClr val="EEF5F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BA9B5C-CE88-452F-8125-A30368655F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F151CA-49D6-466A-B1FA-3D0CA133345E}"/>
              </a:ext>
            </a:extLst>
          </p:cNvPr>
          <p:cNvSpPr>
            <a:spLocks noGrp="1"/>
          </p:cNvSpPr>
          <p:nvPr/>
        </p:nvSpPr>
        <p:spPr>
          <a:xfrm>
            <a:off x="4953000" y="22860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2475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2475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معماری نرم‌افزار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F3061A-1157-4B0C-95AC-834EEADB4232}"/>
              </a:ext>
            </a:extLst>
          </p:cNvPr>
          <p:cNvSpPr>
            <a:spLocks noGrp="1"/>
          </p:cNvSpPr>
          <p:nvPr/>
        </p:nvSpPr>
        <p:spPr>
          <a:xfrm>
            <a:off x="838200" y="30480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200" b="0">
                <a:solidFill>
                  <a:srgbClr val="5A6B78"/>
                </a:solidFill>
                <a:latin typeface="Vazirmatn"/>
                <a:ea typeface="Vazirmatn"/>
                <a:cs typeface="Vazirmatn"/>
              </a:defRPr>
            </a:pPr>
            <a:r>
              <a:rPr sz="1200" b="0">
                <a:solidFill>
                  <a:srgbClr val="5A6B78"/>
                </a:solidFill>
                <a:latin typeface="Vazirmatn"/>
                <a:ea typeface="Vazirmatn"/>
                <a:cs typeface="Vazirmatn"/>
              </a:rPr>
              <a:t>MVC هفت‌لایه با سرویس‌های مستقل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8040B7-7D57-4650-B7C5-1B2BA570DA08}"/>
              </a:ext>
            </a:extLst>
          </p:cNvPr>
          <p:cNvSpPr>
            <a:spLocks noGrp="1"/>
          </p:cNvSpPr>
          <p:nvPr/>
        </p:nvSpPr>
        <p:spPr>
          <a:xfrm>
            <a:off x="7810500" y="1428750"/>
            <a:ext cx="24765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AF0887-45EF-4113-BC2B-51AB85D150DD}"/>
              </a:ext>
            </a:extLst>
          </p:cNvPr>
          <p:cNvSpPr>
            <a:spLocks noGrp="1"/>
          </p:cNvSpPr>
          <p:nvPr/>
        </p:nvSpPr>
        <p:spPr>
          <a:xfrm>
            <a:off x="10201275" y="1428750"/>
            <a:ext cx="85725" cy="8763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850A70-279B-4A8D-AEE0-5E865C6BC59C}"/>
              </a:ext>
            </a:extLst>
          </p:cNvPr>
          <p:cNvSpPr>
            <a:spLocks noGrp="1"/>
          </p:cNvSpPr>
          <p:nvPr/>
        </p:nvSpPr>
        <p:spPr>
          <a:xfrm>
            <a:off x="7962900" y="1590675"/>
            <a:ext cx="2152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لایه نمایش
تب‌های رابط کاربری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241D96-724F-45C2-B0A1-1971B62D15D6}"/>
              </a:ext>
            </a:extLst>
          </p:cNvPr>
          <p:cNvSpPr>
            <a:spLocks noGrp="1"/>
          </p:cNvSpPr>
          <p:nvPr/>
        </p:nvSpPr>
        <p:spPr>
          <a:xfrm>
            <a:off x="7850886" y="2077974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987" lnSpcReduction="10000"/>
          </a:bodyPr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Views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2A8182-AC5D-497F-8994-762BFDA30C5A}"/>
              </a:ext>
            </a:extLst>
          </p:cNvPr>
          <p:cNvSpPr>
            <a:spLocks noGrp="1"/>
          </p:cNvSpPr>
          <p:nvPr/>
        </p:nvSpPr>
        <p:spPr>
          <a:xfrm>
            <a:off x="4857750" y="1428750"/>
            <a:ext cx="24765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D9A7FE-85DD-4A85-8620-8C087642281D}"/>
              </a:ext>
            </a:extLst>
          </p:cNvPr>
          <p:cNvSpPr>
            <a:spLocks noGrp="1"/>
          </p:cNvSpPr>
          <p:nvPr/>
        </p:nvSpPr>
        <p:spPr>
          <a:xfrm>
            <a:off x="7248525" y="1428750"/>
            <a:ext cx="85725" cy="876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7F848D-E17C-4986-AD6E-8B144B0044CE}"/>
              </a:ext>
            </a:extLst>
          </p:cNvPr>
          <p:cNvSpPr>
            <a:spLocks noGrp="1"/>
          </p:cNvSpPr>
          <p:nvPr/>
        </p:nvSpPr>
        <p:spPr>
          <a:xfrm>
            <a:off x="5010150" y="1590675"/>
            <a:ext cx="2152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کنترلرها
هماهنگی جریان برنامه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F8AB90-C38E-4D90-AEC3-96E2C23E1079}"/>
              </a:ext>
            </a:extLst>
          </p:cNvPr>
          <p:cNvSpPr>
            <a:spLocks noGrp="1"/>
          </p:cNvSpPr>
          <p:nvPr/>
        </p:nvSpPr>
        <p:spPr>
          <a:xfrm>
            <a:off x="4813554" y="2077974"/>
            <a:ext cx="1190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987" lnSpcReduction="10000"/>
          </a:bodyPr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Controllers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D2B0179-A7F0-4B76-A121-785D5D2B6689}"/>
              </a:ext>
            </a:extLst>
          </p:cNvPr>
          <p:cNvSpPr>
            <a:spLocks noGrp="1"/>
          </p:cNvSpPr>
          <p:nvPr/>
        </p:nvSpPr>
        <p:spPr>
          <a:xfrm>
            <a:off x="1905000" y="1428750"/>
            <a:ext cx="24765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304269-CB1C-4A38-876D-D4578529F4D8}"/>
              </a:ext>
            </a:extLst>
          </p:cNvPr>
          <p:cNvSpPr>
            <a:spLocks noGrp="1"/>
          </p:cNvSpPr>
          <p:nvPr/>
        </p:nvSpPr>
        <p:spPr>
          <a:xfrm>
            <a:off x="4295775" y="1428750"/>
            <a:ext cx="85725" cy="8763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962133-B399-418F-B36B-3134138A1E1F}"/>
              </a:ext>
            </a:extLst>
          </p:cNvPr>
          <p:cNvSpPr>
            <a:spLocks noGrp="1"/>
          </p:cNvSpPr>
          <p:nvPr/>
        </p:nvSpPr>
        <p:spPr>
          <a:xfrm>
            <a:off x="2057400" y="1590675"/>
            <a:ext cx="2152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سرویس‌ها
منطق رمزنگاری و فایل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E60F8B-BE59-4922-A678-F2A071B9A246}"/>
              </a:ext>
            </a:extLst>
          </p:cNvPr>
          <p:cNvSpPr>
            <a:spLocks noGrp="1"/>
          </p:cNvSpPr>
          <p:nvPr/>
        </p:nvSpPr>
        <p:spPr>
          <a:xfrm>
            <a:off x="1879092" y="2090166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987" lnSpcReduction="10000"/>
          </a:bodyPr>
          <a:lstStyle/>
          <a:p>
            <a:pPr algn="l">
              <a:defRPr sz="975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F4B942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999B436-DE4C-4B06-8C51-E0301CE7A773}"/>
              </a:ext>
            </a:extLst>
          </p:cNvPr>
          <p:cNvSpPr>
            <a:spLocks noGrp="1"/>
          </p:cNvSpPr>
          <p:nvPr/>
        </p:nvSpPr>
        <p:spPr>
          <a:xfrm>
            <a:off x="7810500" y="3143250"/>
            <a:ext cx="24765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124D04-C748-4157-8A65-DBBA0C4E4FC9}"/>
              </a:ext>
            </a:extLst>
          </p:cNvPr>
          <p:cNvSpPr>
            <a:spLocks noGrp="1"/>
          </p:cNvSpPr>
          <p:nvPr/>
        </p:nvSpPr>
        <p:spPr>
          <a:xfrm>
            <a:off x="10201275" y="3143250"/>
            <a:ext cx="85725" cy="876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21BD73-6A05-4D2E-BF37-4CE8A2376BB6}"/>
              </a:ext>
            </a:extLst>
          </p:cNvPr>
          <p:cNvSpPr>
            <a:spLocks noGrp="1"/>
          </p:cNvSpPr>
          <p:nvPr/>
        </p:nvSpPr>
        <p:spPr>
          <a:xfrm>
            <a:off x="7962900" y="3305175"/>
            <a:ext cx="2152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مدل‌ها
ساختار پیام و دوست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D615CC-031B-40F7-9FAE-99A3DFA9C665}"/>
              </a:ext>
            </a:extLst>
          </p:cNvPr>
          <p:cNvSpPr>
            <a:spLocks noGrp="1"/>
          </p:cNvSpPr>
          <p:nvPr/>
        </p:nvSpPr>
        <p:spPr>
          <a:xfrm>
            <a:off x="7796022" y="3774186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987" lnSpcReduction="10000"/>
          </a:bodyPr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5F3B8B0-1F78-400A-9BB9-60773840D98B}"/>
              </a:ext>
            </a:extLst>
          </p:cNvPr>
          <p:cNvSpPr>
            <a:spLocks noGrp="1"/>
          </p:cNvSpPr>
          <p:nvPr/>
        </p:nvSpPr>
        <p:spPr>
          <a:xfrm>
            <a:off x="4857750" y="3143250"/>
            <a:ext cx="24765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6B95EF-C5BB-4966-A07D-F11D13736C92}"/>
              </a:ext>
            </a:extLst>
          </p:cNvPr>
          <p:cNvSpPr>
            <a:spLocks noGrp="1"/>
          </p:cNvSpPr>
          <p:nvPr/>
        </p:nvSpPr>
        <p:spPr>
          <a:xfrm>
            <a:off x="7248525" y="3143250"/>
            <a:ext cx="85725" cy="8763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47B98D-A369-48D5-8540-83DB18EFDD2F}"/>
              </a:ext>
            </a:extLst>
          </p:cNvPr>
          <p:cNvSpPr>
            <a:spLocks noGrp="1"/>
          </p:cNvSpPr>
          <p:nvPr/>
        </p:nvSpPr>
        <p:spPr>
          <a:xfrm>
            <a:off x="5010150" y="3305175"/>
            <a:ext cx="2152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امنیت
حافظه محافظ و قفل‌گذاری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1FFDBA-B6DD-4177-BC2A-B6FDFF5D9250}"/>
              </a:ext>
            </a:extLst>
          </p:cNvPr>
          <p:cNvSpPr>
            <a:spLocks noGrp="1"/>
          </p:cNvSpPr>
          <p:nvPr/>
        </p:nvSpPr>
        <p:spPr>
          <a:xfrm>
            <a:off x="4819650" y="379476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987" lnSpcReduction="10000"/>
          </a:bodyPr>
          <a:lstStyle/>
          <a:p>
            <a:pPr algn="l">
              <a:defRPr sz="97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C2410C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0980886-4557-4A06-8B38-739089946129}"/>
              </a:ext>
            </a:extLst>
          </p:cNvPr>
          <p:cNvSpPr>
            <a:spLocks noGrp="1"/>
          </p:cNvSpPr>
          <p:nvPr/>
        </p:nvSpPr>
        <p:spPr>
          <a:xfrm>
            <a:off x="1905000" y="3143250"/>
            <a:ext cx="24765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FC2618-4EA9-4F0B-A278-F2D64B922CB9}"/>
              </a:ext>
            </a:extLst>
          </p:cNvPr>
          <p:cNvSpPr>
            <a:spLocks noGrp="1"/>
          </p:cNvSpPr>
          <p:nvPr/>
        </p:nvSpPr>
        <p:spPr>
          <a:xfrm>
            <a:off x="4295775" y="3143250"/>
            <a:ext cx="85725" cy="8763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CECD9A-4128-45B4-93BC-4135B4B69A0F}"/>
              </a:ext>
            </a:extLst>
          </p:cNvPr>
          <p:cNvSpPr>
            <a:spLocks noGrp="1"/>
          </p:cNvSpPr>
          <p:nvPr/>
        </p:nvSpPr>
        <p:spPr>
          <a:xfrm>
            <a:off x="2057400" y="3305175"/>
            <a:ext cx="2152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350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1350" b="1" dirty="0" err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پایگاه</a:t>
            </a:r>
            <a:r>
              <a:rPr sz="1350" b="1" dirty="0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350" b="1" dirty="0" err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داده</a:t>
            </a:r>
            <a:r>
              <a:rPr sz="1350" b="1" dirty="0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
</a:t>
            </a:r>
            <a:r>
              <a:rPr sz="1350" b="1" dirty="0" err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ذخیره‌سازی</a:t>
            </a:r>
            <a:r>
              <a:rPr sz="1350" b="1" dirty="0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 </a:t>
            </a:r>
            <a:r>
              <a:rPr sz="1350" b="1" dirty="0" err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رمزگذاری‌شده</a:t>
            </a:r>
            <a:endParaRPr sz="1350" b="1" dirty="0">
              <a:solidFill>
                <a:srgbClr val="102332"/>
              </a:solidFill>
              <a:latin typeface="Vazirmatn"/>
              <a:ea typeface="Vazirmatn"/>
              <a:cs typeface="Vazirmatn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D4C2B3-C238-4662-8C98-1F46F73E3465}"/>
              </a:ext>
            </a:extLst>
          </p:cNvPr>
          <p:cNvSpPr>
            <a:spLocks noGrp="1"/>
          </p:cNvSpPr>
          <p:nvPr/>
        </p:nvSpPr>
        <p:spPr>
          <a:xfrm>
            <a:off x="1915160" y="3783330"/>
            <a:ext cx="176276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987" lnSpcReduction="10000"/>
          </a:bodyPr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975" dirty="0" err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SQLCipher</a:t>
            </a:r>
            <a:r>
              <a:rPr lang="en-US" sz="975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 / SQLite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DD22C35-F646-4BE8-8E9F-12854B7E1E34}"/>
              </a:ext>
            </a:extLst>
          </p:cNvPr>
          <p:cNvSpPr>
            <a:spLocks noGrp="1"/>
          </p:cNvSpPr>
          <p:nvPr/>
        </p:nvSpPr>
        <p:spPr>
          <a:xfrm>
            <a:off x="3381375" y="4857750"/>
            <a:ext cx="5429250" cy="704850"/>
          </a:xfrm>
          <a:prstGeom prst="roundRect">
            <a:avLst>
              <a:gd name="adj" fmla="val 10811"/>
            </a:avLst>
          </a:prstGeom>
          <a:solidFill>
            <a:srgbClr val="081826"/>
          </a:solidFill>
          <a:ln w="9525">
            <a:solidFill>
              <a:srgbClr val="1739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CF6D71-3647-446D-B4E2-849127578FBD}"/>
              </a:ext>
            </a:extLst>
          </p:cNvPr>
          <p:cNvSpPr>
            <a:spLocks noGrp="1"/>
          </p:cNvSpPr>
          <p:nvPr/>
        </p:nvSpPr>
        <p:spPr>
          <a:xfrm>
            <a:off x="3667125" y="5057775"/>
            <a:ext cx="485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82645" lnSpcReduction="10000"/>
          </a:bodyPr>
          <a:lstStyle/>
          <a:p>
            <a:pPr algn="ctr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Vazirmatn"/>
                <a:ea typeface="Vazirmatn"/>
                <a:cs typeface="Vazirmatn"/>
              </a:defRPr>
            </a:pPr>
            <a:r>
              <a:rPr sz="165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EventBus: ارتباط رویدادمحور میان تب‌ها، سرویس‌ها و کنترلرها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4AC3CC-CDA6-4ACB-AB7D-A96AF965DEBB}"/>
              </a:ext>
            </a:extLst>
          </p:cNvPr>
          <p:cNvSpPr>
            <a:spLocks noGrp="1"/>
          </p:cNvSpPr>
          <p:nvPr/>
        </p:nvSpPr>
        <p:spPr>
          <a:xfrm>
            <a:off x="7858125" y="64389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00" b="0">
                <a:solidFill>
                  <a:srgbClr val="5A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B78"/>
                </a:solidFill>
                <a:latin typeface="Aptos"/>
                <a:ea typeface="Aptos"/>
                <a:cs typeface="Aptos"/>
              </a:rPr>
              <a:t>Ultimate Enigma Messenger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FF27DDF-67BE-4F4F-97F3-9D5119354214}"/>
              </a:ext>
            </a:extLst>
          </p:cNvPr>
          <p:cNvSpPr>
            <a:spLocks noGrp="1"/>
          </p:cNvSpPr>
          <p:nvPr/>
        </p:nvSpPr>
        <p:spPr>
          <a:xfrm>
            <a:off x="704850" y="6457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79690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ABBFA36-B3B0-4D60-A72B-1229F3B8C1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5F4"/>
          </a:solidFill>
          <a:ln w="0">
            <a:solidFill>
              <a:srgbClr val="EEF5F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A86D0B-45EC-4E13-803C-3B6161DB0D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08DD51-BE2F-4653-BE5B-412DA95BF326}"/>
              </a:ext>
            </a:extLst>
          </p:cNvPr>
          <p:cNvSpPr>
            <a:spLocks noGrp="1"/>
          </p:cNvSpPr>
          <p:nvPr/>
        </p:nvSpPr>
        <p:spPr>
          <a:xfrm>
            <a:off x="4953000" y="22860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2475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2475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قلب رمزنگاری پروژه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3F9B89-0055-4355-9633-6F4AAB533589}"/>
              </a:ext>
            </a:extLst>
          </p:cNvPr>
          <p:cNvSpPr>
            <a:spLocks noGrp="1"/>
          </p:cNvSpPr>
          <p:nvPr/>
        </p:nvSpPr>
        <p:spPr>
          <a:xfrm>
            <a:off x="838200" y="30480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200" b="0">
                <a:solidFill>
                  <a:srgbClr val="5A6B78"/>
                </a:solidFill>
                <a:latin typeface="Vazirmatn"/>
                <a:ea typeface="Vazirmatn"/>
                <a:cs typeface="Vazirmatn"/>
              </a:defRPr>
            </a:pPr>
            <a:r>
              <a:rPr sz="1200" b="0">
                <a:solidFill>
                  <a:srgbClr val="5A6B78"/>
                </a:solidFill>
                <a:latin typeface="Vazirmatn"/>
                <a:ea typeface="Vazirmatn"/>
                <a:cs typeface="Vazirmatn"/>
              </a:rPr>
              <a:t>ترکیب الگوریتم‌های کلاسیک و آینده‌نگر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415DE8-3E84-4ADD-A118-8CE07E28E371}"/>
              </a:ext>
            </a:extLst>
          </p:cNvPr>
          <p:cNvSpPr>
            <a:spLocks noGrp="1"/>
          </p:cNvSpPr>
          <p:nvPr/>
        </p:nvSpPr>
        <p:spPr>
          <a:xfrm>
            <a:off x="1428750" y="1352550"/>
            <a:ext cx="9334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7C07C9-B49F-4609-B838-366C9E138901}"/>
              </a:ext>
            </a:extLst>
          </p:cNvPr>
          <p:cNvSpPr>
            <a:spLocks noGrp="1"/>
          </p:cNvSpPr>
          <p:nvPr/>
        </p:nvSpPr>
        <p:spPr>
          <a:xfrm>
            <a:off x="8763000" y="15049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86865" lnSpcReduction="20000"/>
          </a:bodyPr>
          <a:lstStyle/>
          <a:p>
            <a:pPr algn="r">
              <a:lnSpc>
                <a:spcPct val="110000"/>
              </a:lnSpc>
              <a:buNone/>
              <a:defRPr sz="1575" b="1">
                <a:solidFill>
                  <a:srgbClr val="0F766E"/>
                </a:solidFill>
                <a:latin typeface="Vazirmatn"/>
                <a:ea typeface="Vazirmatn"/>
                <a:cs typeface="Vazirmatn"/>
              </a:defRPr>
            </a:pPr>
            <a:r>
              <a:rPr sz="1575" b="1">
                <a:solidFill>
                  <a:srgbClr val="0F766E"/>
                </a:solidFill>
                <a:latin typeface="Vazirmatn"/>
                <a:ea typeface="Vazirmatn"/>
                <a:cs typeface="Vazirmatn"/>
              </a:rPr>
              <a:t>محرمانگی پیام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BE1523-437D-462A-9B48-BDB753690CCA}"/>
              </a:ext>
            </a:extLst>
          </p:cNvPr>
          <p:cNvSpPr>
            <a:spLocks noGrp="1"/>
          </p:cNvSpPr>
          <p:nvPr/>
        </p:nvSpPr>
        <p:spPr>
          <a:xfrm>
            <a:off x="4000500" y="151447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1023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2"/>
                </a:solidFill>
                <a:latin typeface="Aptos"/>
                <a:ea typeface="Aptos"/>
                <a:cs typeface="Aptos"/>
              </a:rPr>
              <a:t>AES-256-GCM  |  XChaCha20-Poly1305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E78F60-909F-45BD-8C78-D546F8ED4491}"/>
              </a:ext>
            </a:extLst>
          </p:cNvPr>
          <p:cNvSpPr>
            <a:spLocks noGrp="1"/>
          </p:cNvSpPr>
          <p:nvPr/>
        </p:nvSpPr>
        <p:spPr>
          <a:xfrm>
            <a:off x="1809750" y="15049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92593" lnSpcReduction="10000"/>
          </a:bodyPr>
          <a:lstStyle/>
          <a:p>
            <a:pPr algn="r">
              <a:lnSpc>
                <a:spcPct val="110000"/>
              </a:lnSpc>
              <a:buNone/>
              <a:defRPr sz="1350" b="0">
                <a:solidFill>
                  <a:srgbClr val="5A6B78"/>
                </a:solidFill>
                <a:latin typeface="Vazirmatn"/>
                <a:ea typeface="Vazirmatn"/>
                <a:cs typeface="Vazirmatn"/>
              </a:defRPr>
            </a:pPr>
            <a:r>
              <a:rPr sz="1350" b="0">
                <a:solidFill>
                  <a:srgbClr val="5A6B78"/>
                </a:solidFill>
                <a:latin typeface="Vazirmatn"/>
                <a:ea typeface="Vazirmatn"/>
                <a:cs typeface="Vazirmatn"/>
              </a:rPr>
              <a:t>رمزنگاری سریع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382958-FF7B-4EC0-9AE5-62C97B6A0534}"/>
              </a:ext>
            </a:extLst>
          </p:cNvPr>
          <p:cNvSpPr>
            <a:spLocks noGrp="1"/>
          </p:cNvSpPr>
          <p:nvPr/>
        </p:nvSpPr>
        <p:spPr>
          <a:xfrm>
            <a:off x="1428750" y="2171700"/>
            <a:ext cx="9334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BA92BF-ABC7-4FD8-8697-2777F87E71CB}"/>
              </a:ext>
            </a:extLst>
          </p:cNvPr>
          <p:cNvSpPr>
            <a:spLocks noGrp="1"/>
          </p:cNvSpPr>
          <p:nvPr/>
        </p:nvSpPr>
        <p:spPr>
          <a:xfrm>
            <a:off x="8763000" y="23241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86865" lnSpcReduction="20000"/>
          </a:bodyPr>
          <a:lstStyle/>
          <a:p>
            <a:pPr algn="r">
              <a:lnSpc>
                <a:spcPct val="110000"/>
              </a:lnSpc>
              <a:buNone/>
              <a:defRPr sz="1575" b="1">
                <a:solidFill>
                  <a:srgbClr val="0F766E"/>
                </a:solidFill>
                <a:latin typeface="Vazirmatn"/>
                <a:ea typeface="Vazirmatn"/>
                <a:cs typeface="Vazirmatn"/>
              </a:defRPr>
            </a:pPr>
            <a:r>
              <a:rPr sz="1575" b="1">
                <a:solidFill>
                  <a:srgbClr val="0F766E"/>
                </a:solidFill>
                <a:latin typeface="Vazirmatn"/>
                <a:ea typeface="Vazirmatn"/>
                <a:cs typeface="Vazirmatn"/>
              </a:rPr>
              <a:t>تبادل کلید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A52E51-BF0C-4829-A71C-BC306A945EC0}"/>
              </a:ext>
            </a:extLst>
          </p:cNvPr>
          <p:cNvSpPr>
            <a:spLocks noGrp="1"/>
          </p:cNvSpPr>
          <p:nvPr/>
        </p:nvSpPr>
        <p:spPr>
          <a:xfrm>
            <a:off x="4000500" y="233362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1023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2"/>
                </a:solidFill>
                <a:latin typeface="Aptos"/>
                <a:ea typeface="Aptos"/>
                <a:cs typeface="Aptos"/>
              </a:rPr>
              <a:t>RSA-4096  |  X25519 ECDH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A82AE4-D745-4C15-8B52-0B719B73A3BA}"/>
              </a:ext>
            </a:extLst>
          </p:cNvPr>
          <p:cNvSpPr>
            <a:spLocks noGrp="1"/>
          </p:cNvSpPr>
          <p:nvPr/>
        </p:nvSpPr>
        <p:spPr>
          <a:xfrm>
            <a:off x="1809750" y="23241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92593" lnSpcReduction="10000"/>
          </a:bodyPr>
          <a:lstStyle/>
          <a:p>
            <a:pPr algn="r">
              <a:lnSpc>
                <a:spcPct val="110000"/>
              </a:lnSpc>
              <a:buNone/>
              <a:defRPr sz="1350" b="0">
                <a:solidFill>
                  <a:srgbClr val="5A6B78"/>
                </a:solidFill>
                <a:latin typeface="Vazirmatn"/>
                <a:ea typeface="Vazirmatn"/>
                <a:cs typeface="Vazirmatn"/>
              </a:defRPr>
            </a:pPr>
            <a:r>
              <a:rPr sz="1350" b="0">
                <a:solidFill>
                  <a:srgbClr val="5A6B78"/>
                </a:solidFill>
                <a:latin typeface="Vazirmatn"/>
                <a:ea typeface="Vazirmatn"/>
                <a:cs typeface="Vazirmatn"/>
              </a:rPr>
              <a:t>کلید امن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F99514-BEB3-4000-90CC-22537CB0FF8A}"/>
              </a:ext>
            </a:extLst>
          </p:cNvPr>
          <p:cNvSpPr>
            <a:spLocks noGrp="1"/>
          </p:cNvSpPr>
          <p:nvPr/>
        </p:nvSpPr>
        <p:spPr>
          <a:xfrm>
            <a:off x="1428750" y="2990850"/>
            <a:ext cx="9334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B11206-D871-4034-9C13-D706AA1D3C3D}"/>
              </a:ext>
            </a:extLst>
          </p:cNvPr>
          <p:cNvSpPr>
            <a:spLocks noGrp="1"/>
          </p:cNvSpPr>
          <p:nvPr/>
        </p:nvSpPr>
        <p:spPr>
          <a:xfrm>
            <a:off x="8763000" y="31432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86865" lnSpcReduction="20000"/>
          </a:bodyPr>
          <a:lstStyle/>
          <a:p>
            <a:pPr algn="r">
              <a:lnSpc>
                <a:spcPct val="110000"/>
              </a:lnSpc>
              <a:buNone/>
              <a:defRPr sz="1575" b="1">
                <a:solidFill>
                  <a:srgbClr val="0F766E"/>
                </a:solidFill>
                <a:latin typeface="Vazirmatn"/>
                <a:ea typeface="Vazirmatn"/>
                <a:cs typeface="Vazirmatn"/>
              </a:defRPr>
            </a:pPr>
            <a:r>
              <a:rPr sz="1575" b="1">
                <a:solidFill>
                  <a:srgbClr val="0F766E"/>
                </a:solidFill>
                <a:latin typeface="Vazirmatn"/>
                <a:ea typeface="Vazirmatn"/>
                <a:cs typeface="Vazirmatn"/>
              </a:rPr>
              <a:t>امنیت مکالمه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74C42E-8F9C-4FB4-85A3-94969B4BEF5C}"/>
              </a:ext>
            </a:extLst>
          </p:cNvPr>
          <p:cNvSpPr>
            <a:spLocks noGrp="1"/>
          </p:cNvSpPr>
          <p:nvPr/>
        </p:nvSpPr>
        <p:spPr>
          <a:xfrm>
            <a:off x="4000500" y="315277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1023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2"/>
                </a:solidFill>
                <a:latin typeface="Aptos"/>
                <a:ea typeface="Aptos"/>
                <a:cs typeface="Aptos"/>
              </a:rPr>
              <a:t>Double Ratchet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925161-116D-4498-A190-41E8FF6203AF}"/>
              </a:ext>
            </a:extLst>
          </p:cNvPr>
          <p:cNvSpPr>
            <a:spLocks noGrp="1"/>
          </p:cNvSpPr>
          <p:nvPr/>
        </p:nvSpPr>
        <p:spPr>
          <a:xfrm>
            <a:off x="1809750" y="31432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92593" lnSpcReduction="10000"/>
          </a:bodyPr>
          <a:lstStyle/>
          <a:p>
            <a:pPr algn="r">
              <a:lnSpc>
                <a:spcPct val="110000"/>
              </a:lnSpc>
              <a:buNone/>
              <a:defRPr sz="1350" b="0">
                <a:solidFill>
                  <a:srgbClr val="5A6B78"/>
                </a:solidFill>
                <a:latin typeface="Vazirmatn"/>
                <a:ea typeface="Vazirmatn"/>
                <a:cs typeface="Vazirmatn"/>
              </a:defRPr>
            </a:pPr>
            <a:r>
              <a:rPr sz="1350" b="0">
                <a:solidFill>
                  <a:srgbClr val="5A6B78"/>
                </a:solidFill>
                <a:latin typeface="Vazirmatn"/>
                <a:ea typeface="Vazirmatn"/>
                <a:cs typeface="Vazirmatn"/>
              </a:rPr>
              <a:t>کلیدهای زنجیره‌ای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D4B6B1B-F2B4-4DD8-9DD6-FC801200E83A}"/>
              </a:ext>
            </a:extLst>
          </p:cNvPr>
          <p:cNvSpPr>
            <a:spLocks noGrp="1"/>
          </p:cNvSpPr>
          <p:nvPr/>
        </p:nvSpPr>
        <p:spPr>
          <a:xfrm>
            <a:off x="1428750" y="3810000"/>
            <a:ext cx="9334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6FB6A6-D7D6-402E-B26A-62E2CE86818D}"/>
              </a:ext>
            </a:extLst>
          </p:cNvPr>
          <p:cNvSpPr>
            <a:spLocks noGrp="1"/>
          </p:cNvSpPr>
          <p:nvPr/>
        </p:nvSpPr>
        <p:spPr>
          <a:xfrm>
            <a:off x="8763000" y="39624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86865" lnSpcReduction="20000"/>
          </a:bodyPr>
          <a:lstStyle/>
          <a:p>
            <a:pPr algn="r">
              <a:lnSpc>
                <a:spcPct val="110000"/>
              </a:lnSpc>
              <a:buNone/>
              <a:defRPr sz="1575" b="1">
                <a:solidFill>
                  <a:srgbClr val="0F766E"/>
                </a:solidFill>
                <a:latin typeface="Vazirmatn"/>
                <a:ea typeface="Vazirmatn"/>
                <a:cs typeface="Vazirmatn"/>
              </a:defRPr>
            </a:pPr>
            <a:r>
              <a:rPr sz="1575" b="1">
                <a:solidFill>
                  <a:srgbClr val="0F766E"/>
                </a:solidFill>
                <a:latin typeface="Vazirmatn"/>
                <a:ea typeface="Vazirmatn"/>
                <a:cs typeface="Vazirmatn"/>
              </a:rPr>
              <a:t>پساکوانتومی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A89251-D207-4DEF-AB99-F9CE3D361FB1}"/>
              </a:ext>
            </a:extLst>
          </p:cNvPr>
          <p:cNvSpPr>
            <a:spLocks noGrp="1"/>
          </p:cNvSpPr>
          <p:nvPr/>
        </p:nvSpPr>
        <p:spPr>
          <a:xfrm>
            <a:off x="4000500" y="397192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1023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2"/>
                </a:solidFill>
                <a:latin typeface="Aptos"/>
                <a:ea typeface="Aptos"/>
                <a:cs typeface="Aptos"/>
              </a:rPr>
              <a:t>Kyber768  |  Dilithium3  |  liboqs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BFA794-34FA-4E30-A502-430A51CCDBA1}"/>
              </a:ext>
            </a:extLst>
          </p:cNvPr>
          <p:cNvSpPr>
            <a:spLocks noGrp="1"/>
          </p:cNvSpPr>
          <p:nvPr/>
        </p:nvSpPr>
        <p:spPr>
          <a:xfrm>
            <a:off x="1809750" y="3962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92593" lnSpcReduction="10000"/>
          </a:bodyPr>
          <a:lstStyle/>
          <a:p>
            <a:pPr algn="r">
              <a:lnSpc>
                <a:spcPct val="110000"/>
              </a:lnSpc>
              <a:buNone/>
              <a:defRPr sz="1350" b="0">
                <a:solidFill>
                  <a:srgbClr val="5A6B78"/>
                </a:solidFill>
                <a:latin typeface="Vazirmatn"/>
                <a:ea typeface="Vazirmatn"/>
                <a:cs typeface="Vazirmatn"/>
              </a:defRPr>
            </a:pPr>
            <a:r>
              <a:rPr sz="1350" b="0">
                <a:solidFill>
                  <a:srgbClr val="5A6B78"/>
                </a:solidFill>
                <a:latin typeface="Vazirmatn"/>
                <a:ea typeface="Vazirmatn"/>
                <a:cs typeface="Vazirmatn"/>
              </a:rPr>
              <a:t>آینده‌نگر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FF0569A-B68D-4E11-AA4B-FD78FB452024}"/>
              </a:ext>
            </a:extLst>
          </p:cNvPr>
          <p:cNvSpPr>
            <a:spLocks noGrp="1"/>
          </p:cNvSpPr>
          <p:nvPr/>
        </p:nvSpPr>
        <p:spPr>
          <a:xfrm>
            <a:off x="1428750" y="4629150"/>
            <a:ext cx="9334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4628E9-E560-426A-B594-7DB6CE84C12D}"/>
              </a:ext>
            </a:extLst>
          </p:cNvPr>
          <p:cNvSpPr>
            <a:spLocks noGrp="1"/>
          </p:cNvSpPr>
          <p:nvPr/>
        </p:nvSpPr>
        <p:spPr>
          <a:xfrm>
            <a:off x="8763000" y="47815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86865" lnSpcReduction="20000"/>
          </a:bodyPr>
          <a:lstStyle/>
          <a:p>
            <a:pPr algn="r">
              <a:lnSpc>
                <a:spcPct val="110000"/>
              </a:lnSpc>
              <a:buNone/>
              <a:defRPr sz="1575" b="1">
                <a:solidFill>
                  <a:srgbClr val="0F766E"/>
                </a:solidFill>
                <a:latin typeface="Vazirmatn"/>
                <a:ea typeface="Vazirmatn"/>
                <a:cs typeface="Vazirmatn"/>
              </a:defRPr>
            </a:pPr>
            <a:r>
              <a:rPr sz="1575" b="1">
                <a:solidFill>
                  <a:srgbClr val="0F766E"/>
                </a:solidFill>
                <a:latin typeface="Vazirmatn"/>
                <a:ea typeface="Vazirmatn"/>
                <a:cs typeface="Vazirmatn"/>
              </a:rPr>
              <a:t>عبور رمز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374AB1-BA54-4F5F-9660-9C33EF9A1FF3}"/>
              </a:ext>
            </a:extLst>
          </p:cNvPr>
          <p:cNvSpPr>
            <a:spLocks noGrp="1"/>
          </p:cNvSpPr>
          <p:nvPr/>
        </p:nvSpPr>
        <p:spPr>
          <a:xfrm>
            <a:off x="4000500" y="479107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1023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2"/>
                </a:solidFill>
                <a:latin typeface="Aptos"/>
                <a:ea typeface="Aptos"/>
                <a:cs typeface="Aptos"/>
              </a:rPr>
              <a:t>Argon2id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713094-BE08-4D91-9296-A1F244556F4E}"/>
              </a:ext>
            </a:extLst>
          </p:cNvPr>
          <p:cNvSpPr>
            <a:spLocks noGrp="1"/>
          </p:cNvSpPr>
          <p:nvPr/>
        </p:nvSpPr>
        <p:spPr>
          <a:xfrm>
            <a:off x="1809750" y="4781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92593" lnSpcReduction="10000"/>
          </a:bodyPr>
          <a:lstStyle/>
          <a:p>
            <a:pPr algn="r">
              <a:lnSpc>
                <a:spcPct val="110000"/>
              </a:lnSpc>
              <a:buNone/>
              <a:defRPr sz="1350" b="0">
                <a:solidFill>
                  <a:srgbClr val="5A6B78"/>
                </a:solidFill>
                <a:latin typeface="Vazirmatn"/>
                <a:ea typeface="Vazirmatn"/>
                <a:cs typeface="Vazirmatn"/>
              </a:defRPr>
            </a:pPr>
            <a:r>
              <a:rPr sz="1350" b="0">
                <a:solidFill>
                  <a:srgbClr val="5A6B78"/>
                </a:solidFill>
                <a:latin typeface="Vazirmatn"/>
                <a:ea typeface="Vazirmatn"/>
                <a:cs typeface="Vazirmatn"/>
              </a:rPr>
              <a:t>حافظه‌سخت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00DB82-AD69-4598-A19D-F27BC940D29B}"/>
              </a:ext>
            </a:extLst>
          </p:cNvPr>
          <p:cNvSpPr>
            <a:spLocks noGrp="1"/>
          </p:cNvSpPr>
          <p:nvPr/>
        </p:nvSpPr>
        <p:spPr>
          <a:xfrm>
            <a:off x="7858125" y="64389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00" b="0">
                <a:solidFill>
                  <a:srgbClr val="5A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B78"/>
                </a:solidFill>
                <a:latin typeface="Aptos"/>
                <a:ea typeface="Aptos"/>
                <a:cs typeface="Aptos"/>
              </a:rPr>
              <a:t>Ultimate Enigma Messenger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995313-F096-4B99-88FF-4B70C8575A2A}"/>
              </a:ext>
            </a:extLst>
          </p:cNvPr>
          <p:cNvSpPr>
            <a:spLocks noGrp="1"/>
          </p:cNvSpPr>
          <p:nvPr/>
        </p:nvSpPr>
        <p:spPr>
          <a:xfrm>
            <a:off x="704850" y="6457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5294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2B4C99-861D-4CC6-8BFA-11BA63E21F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5F4"/>
          </a:solidFill>
          <a:ln w="0">
            <a:solidFill>
              <a:srgbClr val="EEF5F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479A67-2E11-41C2-996D-8D9FB77F60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35257-CEAE-48EC-AF53-0761A1B9A94C}"/>
              </a:ext>
            </a:extLst>
          </p:cNvPr>
          <p:cNvSpPr>
            <a:spLocks noGrp="1"/>
          </p:cNvSpPr>
          <p:nvPr/>
        </p:nvSpPr>
        <p:spPr>
          <a:xfrm>
            <a:off x="4953000" y="22860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2475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2475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امنیت فراتر از الگوریتم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1BF3E2-D192-47C1-825C-0226E0EDD5E5}"/>
              </a:ext>
            </a:extLst>
          </p:cNvPr>
          <p:cNvSpPr>
            <a:spLocks noGrp="1"/>
          </p:cNvSpPr>
          <p:nvPr/>
        </p:nvSpPr>
        <p:spPr>
          <a:xfrm>
            <a:off x="838200" y="30480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200" b="0">
                <a:solidFill>
                  <a:srgbClr val="5A6B78"/>
                </a:solidFill>
                <a:latin typeface="Vazirmatn"/>
                <a:ea typeface="Vazirmatn"/>
                <a:cs typeface="Vazirmatn"/>
              </a:defRPr>
            </a:pPr>
            <a:r>
              <a:rPr sz="1200" b="0">
                <a:solidFill>
                  <a:srgbClr val="5A6B78"/>
                </a:solidFill>
                <a:latin typeface="Vazirmatn"/>
                <a:ea typeface="Vazirmatn"/>
                <a:cs typeface="Vazirmatn"/>
              </a:rPr>
              <a:t>محافظت از کلیدها در حافظه، دیسک و زمان اجرا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8CC6638-4167-481D-932B-9C834E056B26}"/>
              </a:ext>
            </a:extLst>
          </p:cNvPr>
          <p:cNvSpPr>
            <a:spLocks noGrp="1"/>
          </p:cNvSpPr>
          <p:nvPr/>
        </p:nvSpPr>
        <p:spPr>
          <a:xfrm>
            <a:off x="7639050" y="1428750"/>
            <a:ext cx="2952750" cy="3429000"/>
          </a:xfrm>
          <a:prstGeom prst="roundRect">
            <a:avLst>
              <a:gd name="adj" fmla="val 2581"/>
            </a:avLst>
          </a:prstGeom>
          <a:solidFill>
            <a:srgbClr val="081826"/>
          </a:solidFill>
          <a:ln w="9525">
            <a:solidFill>
              <a:srgbClr val="1739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1A8553FE-DCF9-4922-86B7-9A80EEA4B090}"/>
              </a:ext>
            </a:extLst>
          </p:cNvPr>
          <p:cNvSpPr>
            <a:spLocks noGrp="1"/>
          </p:cNvSpPr>
          <p:nvPr/>
        </p:nvSpPr>
        <p:spPr>
          <a:xfrm>
            <a:off x="8754999" y="1953768"/>
            <a:ext cx="720852" cy="655320"/>
          </a:xfrm>
          <a:prstGeom prst="arc">
            <a:avLst/>
          </a:prstGeom>
          <a:noFill/>
          <a:ln w="57340">
            <a:solidFill>
              <a:srgbClr val="F4B942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720870-E7A9-405B-ABDE-B3AA30AA8A89}"/>
              </a:ext>
            </a:extLst>
          </p:cNvPr>
          <p:cNvSpPr>
            <a:spLocks noGrp="1"/>
          </p:cNvSpPr>
          <p:nvPr/>
        </p:nvSpPr>
        <p:spPr>
          <a:xfrm>
            <a:off x="8607552" y="2346960"/>
            <a:ext cx="1015746" cy="753618"/>
          </a:xfrm>
          <a:prstGeom prst="roundRect">
            <a:avLst>
              <a:gd name="adj" fmla="val 1087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F0D05B-55EF-4BA5-A814-9D158EDB9616}"/>
              </a:ext>
            </a:extLst>
          </p:cNvPr>
          <p:cNvSpPr>
            <a:spLocks noGrp="1"/>
          </p:cNvSpPr>
          <p:nvPr/>
        </p:nvSpPr>
        <p:spPr>
          <a:xfrm>
            <a:off x="9025319" y="2625471"/>
            <a:ext cx="180213" cy="180213"/>
          </a:xfrm>
          <a:prstGeom prst="ellipse">
            <a:avLst/>
          </a:prstGeom>
          <a:solidFill>
            <a:srgbClr val="081826"/>
          </a:solidFill>
          <a:ln w="0">
            <a:solidFill>
              <a:srgbClr val="08182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AD43A2-63BA-4B2B-AE7B-F8A2B8B45067}"/>
              </a:ext>
            </a:extLst>
          </p:cNvPr>
          <p:cNvSpPr>
            <a:spLocks noGrp="1"/>
          </p:cNvSpPr>
          <p:nvPr/>
        </p:nvSpPr>
        <p:spPr>
          <a:xfrm>
            <a:off x="7810500" y="3448050"/>
            <a:ext cx="2609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000" lnSpcReduction="10000"/>
          </a:bodyPr>
          <a:lstStyle/>
          <a:p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Emergency Lock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37053E-3BD8-467C-9D99-67B17DF1A9D9}"/>
              </a:ext>
            </a:extLst>
          </p:cNvPr>
          <p:cNvSpPr>
            <a:spLocks noGrp="1"/>
          </p:cNvSpPr>
          <p:nvPr/>
        </p:nvSpPr>
        <p:spPr>
          <a:xfrm>
            <a:off x="8001000" y="3924300"/>
            <a:ext cx="2238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92500"/>
          </a:bodyPr>
          <a:lstStyle/>
          <a:p>
            <a:pPr algn="ctr">
              <a:lnSpc>
                <a:spcPct val="110000"/>
              </a:lnSpc>
              <a:buNone/>
              <a:defRPr sz="1350" b="0">
                <a:solidFill>
                  <a:srgbClr val="DCEBEA"/>
                </a:solidFill>
                <a:latin typeface="Vazirmatn"/>
                <a:ea typeface="Vazirmatn"/>
                <a:cs typeface="Vazirmatn"/>
              </a:defRPr>
            </a:pPr>
            <a:r>
              <a:rPr sz="1350" b="0">
                <a:solidFill>
                  <a:srgbClr val="DCEBEA"/>
                </a:solidFill>
                <a:latin typeface="Vazirmatn"/>
                <a:ea typeface="Vazirmatn"/>
                <a:cs typeface="Vazirmatn"/>
              </a:rPr>
              <a:t>پاک‌سازی فوری کلیدها و نیاز به رمز اصلی + TOTP برای بازگشایی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097AD2-A191-4BEB-B764-9C4DE4E9A72F}"/>
              </a:ext>
            </a:extLst>
          </p:cNvPr>
          <p:cNvSpPr>
            <a:spLocks noGrp="1"/>
          </p:cNvSpPr>
          <p:nvPr/>
        </p:nvSpPr>
        <p:spPr>
          <a:xfrm>
            <a:off x="1476375" y="1504950"/>
            <a:ext cx="53340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114300" bIns="38100">
            <a:normAutofit/>
          </a:bodyPr>
          <a:lstStyle/>
          <a:p>
            <a:pPr marL="22" indent="-12" algn="r">
              <a:lnSpc>
                <a:spcPct val="125000"/>
              </a:lnSpc>
              <a:buNone/>
              <a:defRPr sz="1650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65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رشته امن با پاک‌سازی چندمرحله‌ای برای داده‌های حساس</a:t>
            </a:r>
          </a:p>
          <a:p>
            <a:pPr marL="22" indent="-12" algn="r">
              <a:lnSpc>
                <a:spcPct val="125000"/>
              </a:lnSpc>
              <a:buNone/>
              <a:defRPr sz="1650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65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بافر محافظت‌شده برای نگهداری کلیدهای زنجیره‌ای</a:t>
            </a:r>
          </a:p>
          <a:p>
            <a:pPr marL="22" indent="-12" algn="r">
              <a:lnSpc>
                <a:spcPct val="125000"/>
              </a:lnSpc>
              <a:buNone/>
              <a:defRPr sz="1650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65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قفل‌شدن حافظه برای کاهش نشت در حافظه جانبی</a:t>
            </a:r>
          </a:p>
          <a:p>
            <a:pPr marL="22" indent="-12" algn="r">
              <a:lnSpc>
                <a:spcPct val="125000"/>
              </a:lnSpc>
              <a:buNone/>
              <a:defRPr sz="1650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65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محافظت ضد دامپ و ضد دستکاری در فایل اجرایی</a:t>
            </a:r>
          </a:p>
          <a:p>
            <a:pPr marL="22" indent="-12" algn="r">
              <a:lnSpc>
                <a:spcPct val="125000"/>
              </a:lnSpc>
              <a:buNone/>
              <a:defRPr sz="1650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650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قفل‌گذاری نمایی پس از تلاش‌های ناموفق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8974AB-51AB-460E-9518-061959A747B8}"/>
              </a:ext>
            </a:extLst>
          </p:cNvPr>
          <p:cNvSpPr>
            <a:spLocks noGrp="1"/>
          </p:cNvSpPr>
          <p:nvPr/>
        </p:nvSpPr>
        <p:spPr>
          <a:xfrm>
            <a:off x="7858125" y="64389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00" b="0">
                <a:solidFill>
                  <a:srgbClr val="5A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B78"/>
                </a:solidFill>
                <a:latin typeface="Aptos"/>
                <a:ea typeface="Aptos"/>
                <a:cs typeface="Aptos"/>
              </a:rPr>
              <a:t>Ultimate Enigma Messenger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26D1EA-7FB6-4017-A6FE-FD6016515263}"/>
              </a:ext>
            </a:extLst>
          </p:cNvPr>
          <p:cNvSpPr>
            <a:spLocks noGrp="1"/>
          </p:cNvSpPr>
          <p:nvPr/>
        </p:nvSpPr>
        <p:spPr>
          <a:xfrm>
            <a:off x="704850" y="6457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82071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2FD8B26-34B7-4AE3-AC08-A2F7A2F7EB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5F4"/>
          </a:solidFill>
          <a:ln w="0">
            <a:solidFill>
              <a:srgbClr val="EEF5F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6543ED-D1AF-4AFA-B5E1-F136A6B084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7FFEC8-F829-402F-AD27-EC5A9C965BAE}"/>
              </a:ext>
            </a:extLst>
          </p:cNvPr>
          <p:cNvSpPr>
            <a:spLocks noGrp="1"/>
          </p:cNvSpPr>
          <p:nvPr/>
        </p:nvSpPr>
        <p:spPr>
          <a:xfrm>
            <a:off x="4953000" y="22860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2475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2475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تجربه کاربری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91D83-F046-4FA3-97DC-756C9D74C714}"/>
              </a:ext>
            </a:extLst>
          </p:cNvPr>
          <p:cNvSpPr>
            <a:spLocks noGrp="1"/>
          </p:cNvSpPr>
          <p:nvPr/>
        </p:nvSpPr>
        <p:spPr>
          <a:xfrm>
            <a:off x="838200" y="30480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200" b="0">
                <a:solidFill>
                  <a:srgbClr val="5A6B78"/>
                </a:solidFill>
                <a:latin typeface="Vazirmatn"/>
                <a:ea typeface="Vazirmatn"/>
                <a:cs typeface="Vazirmatn"/>
              </a:defRPr>
            </a:pPr>
            <a:r>
              <a:rPr sz="1200" b="0">
                <a:solidFill>
                  <a:srgbClr val="5A6B78"/>
                </a:solidFill>
                <a:latin typeface="Vazirmatn"/>
                <a:ea typeface="Vazirmatn"/>
                <a:cs typeface="Vazirmatn"/>
              </a:rPr>
              <a:t>امنیت باید قابل استفاده باشد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2A0A0F-7BB5-41BF-902A-BDC73A56B2DF}"/>
              </a:ext>
            </a:extLst>
          </p:cNvPr>
          <p:cNvSpPr>
            <a:spLocks noGrp="1"/>
          </p:cNvSpPr>
          <p:nvPr/>
        </p:nvSpPr>
        <p:spPr>
          <a:xfrm>
            <a:off x="1066800" y="1428750"/>
            <a:ext cx="1257300" cy="323850"/>
          </a:xfrm>
          <a:prstGeom prst="roundRect">
            <a:avLst>
              <a:gd name="adj" fmla="val 47059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 anchor="ctr">
            <a:normAutofit fontScale="96949" lnSpcReduction="10000"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Encrypt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655CBA-FAF4-4DB4-9E21-1AEFD331E033}"/>
              </a:ext>
            </a:extLst>
          </p:cNvPr>
          <p:cNvSpPr>
            <a:spLocks noGrp="1"/>
          </p:cNvSpPr>
          <p:nvPr/>
        </p:nvSpPr>
        <p:spPr>
          <a:xfrm>
            <a:off x="2476500" y="1428750"/>
            <a:ext cx="1257300" cy="323850"/>
          </a:xfrm>
          <a:prstGeom prst="roundRect">
            <a:avLst>
              <a:gd name="adj" fmla="val 47059"/>
            </a:avLst>
          </a:prstGeom>
          <a:solidFill>
            <a:srgbClr val="D9EBE7"/>
          </a:solidFill>
          <a:ln w="0">
            <a:solidFill>
              <a:srgbClr val="D9EBE7"/>
            </a:solidFill>
            <a:prstDash val="solid"/>
          </a:ln>
        </p:spPr>
        <p:txBody>
          <a:bodyPr anchor="ctr">
            <a:normAutofit fontScale="96949" lnSpcReduction="10000"/>
          </a:bodyPr>
          <a:lstStyle/>
          <a:p>
            <a:pPr algn="ctr">
              <a:defRPr sz="1050" b="1">
                <a:solidFill>
                  <a:srgbClr val="1023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32"/>
                </a:solidFill>
                <a:latin typeface="Aptos"/>
                <a:ea typeface="Aptos"/>
                <a:cs typeface="Aptos"/>
              </a:rPr>
              <a:t>Decrypt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5ADC042-4BA5-45C7-A0B3-75F76D84BE3F}"/>
              </a:ext>
            </a:extLst>
          </p:cNvPr>
          <p:cNvSpPr>
            <a:spLocks noGrp="1"/>
          </p:cNvSpPr>
          <p:nvPr/>
        </p:nvSpPr>
        <p:spPr>
          <a:xfrm>
            <a:off x="3886200" y="1428750"/>
            <a:ext cx="1257300" cy="323850"/>
          </a:xfrm>
          <a:prstGeom prst="roundRect">
            <a:avLst>
              <a:gd name="adj" fmla="val 47059"/>
            </a:avLst>
          </a:prstGeom>
          <a:solidFill>
            <a:srgbClr val="D9EBE7"/>
          </a:solidFill>
          <a:ln w="0">
            <a:solidFill>
              <a:srgbClr val="D9EBE7"/>
            </a:solidFill>
            <a:prstDash val="solid"/>
          </a:ln>
        </p:spPr>
        <p:txBody>
          <a:bodyPr anchor="ctr">
            <a:normAutofit fontScale="96949" lnSpcReduction="10000"/>
          </a:bodyPr>
          <a:lstStyle/>
          <a:p>
            <a:pPr algn="ctr">
              <a:defRPr sz="1050" b="1">
                <a:solidFill>
                  <a:srgbClr val="1023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32"/>
                </a:solidFill>
                <a:latin typeface="Aptos"/>
                <a:ea typeface="Aptos"/>
                <a:cs typeface="Aptos"/>
              </a:rPr>
              <a:t>Friends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11F84C-901F-4800-8C29-8AAE9F95AC79}"/>
              </a:ext>
            </a:extLst>
          </p:cNvPr>
          <p:cNvSpPr>
            <a:spLocks noGrp="1"/>
          </p:cNvSpPr>
          <p:nvPr/>
        </p:nvSpPr>
        <p:spPr>
          <a:xfrm>
            <a:off x="5295900" y="1428750"/>
            <a:ext cx="1257300" cy="323850"/>
          </a:xfrm>
          <a:prstGeom prst="roundRect">
            <a:avLst>
              <a:gd name="adj" fmla="val 47059"/>
            </a:avLst>
          </a:prstGeom>
          <a:solidFill>
            <a:srgbClr val="D9EBE7"/>
          </a:solidFill>
          <a:ln w="0">
            <a:solidFill>
              <a:srgbClr val="D9EBE7"/>
            </a:solidFill>
            <a:prstDash val="solid"/>
          </a:ln>
        </p:spPr>
        <p:txBody>
          <a:bodyPr anchor="ctr">
            <a:normAutofit fontScale="96949" lnSpcReduction="10000"/>
          </a:bodyPr>
          <a:lstStyle/>
          <a:p>
            <a:pPr algn="ctr">
              <a:defRPr sz="1050" b="1">
                <a:solidFill>
                  <a:srgbClr val="1023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32"/>
                </a:solidFill>
                <a:latin typeface="Aptos"/>
                <a:ea typeface="Aptos"/>
                <a:cs typeface="Aptos"/>
              </a:rPr>
              <a:t>Files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6EBED5E-95F5-4475-8591-55B46F35B2FB}"/>
              </a:ext>
            </a:extLst>
          </p:cNvPr>
          <p:cNvSpPr>
            <a:spLocks noGrp="1"/>
          </p:cNvSpPr>
          <p:nvPr/>
        </p:nvSpPr>
        <p:spPr>
          <a:xfrm>
            <a:off x="6705600" y="1428750"/>
            <a:ext cx="1257300" cy="323850"/>
          </a:xfrm>
          <a:prstGeom prst="roundRect">
            <a:avLst>
              <a:gd name="adj" fmla="val 47059"/>
            </a:avLst>
          </a:prstGeom>
          <a:solidFill>
            <a:srgbClr val="D9EBE7"/>
          </a:solidFill>
          <a:ln w="0">
            <a:solidFill>
              <a:srgbClr val="D9EBE7"/>
            </a:solidFill>
            <a:prstDash val="solid"/>
          </a:ln>
        </p:spPr>
        <p:txBody>
          <a:bodyPr anchor="ctr">
            <a:normAutofit fontScale="96949" lnSpcReduction="10000"/>
          </a:bodyPr>
          <a:lstStyle/>
          <a:p>
            <a:pPr algn="ctr">
              <a:defRPr sz="1050" b="1">
                <a:solidFill>
                  <a:srgbClr val="1023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32"/>
                </a:solidFill>
                <a:latin typeface="Aptos"/>
                <a:ea typeface="Aptos"/>
                <a:cs typeface="Aptos"/>
              </a:rPr>
              <a:t>Secret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BA5A41E-EC7B-4E04-A3AA-695854574316}"/>
              </a:ext>
            </a:extLst>
          </p:cNvPr>
          <p:cNvSpPr>
            <a:spLocks noGrp="1"/>
          </p:cNvSpPr>
          <p:nvPr/>
        </p:nvSpPr>
        <p:spPr>
          <a:xfrm>
            <a:off x="8115300" y="1428750"/>
            <a:ext cx="1257300" cy="323850"/>
          </a:xfrm>
          <a:prstGeom prst="roundRect">
            <a:avLst>
              <a:gd name="adj" fmla="val 47059"/>
            </a:avLst>
          </a:prstGeom>
          <a:solidFill>
            <a:srgbClr val="D9EBE7"/>
          </a:solidFill>
          <a:ln w="0">
            <a:solidFill>
              <a:srgbClr val="D9EBE7"/>
            </a:solidFill>
            <a:prstDash val="solid"/>
          </a:ln>
        </p:spPr>
        <p:txBody>
          <a:bodyPr anchor="ctr">
            <a:normAutofit fontScale="96949" lnSpcReduction="10000"/>
          </a:bodyPr>
          <a:lstStyle/>
          <a:p>
            <a:pPr algn="ctr">
              <a:defRPr sz="1050" b="1">
                <a:solidFill>
                  <a:srgbClr val="1023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32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72A7F5-C910-43BF-A7A3-66F4EF537D14}"/>
              </a:ext>
            </a:extLst>
          </p:cNvPr>
          <p:cNvSpPr>
            <a:spLocks noGrp="1"/>
          </p:cNvSpPr>
          <p:nvPr/>
        </p:nvSpPr>
        <p:spPr>
          <a:xfrm>
            <a:off x="9525000" y="1428750"/>
            <a:ext cx="1257300" cy="323850"/>
          </a:xfrm>
          <a:prstGeom prst="roundRect">
            <a:avLst>
              <a:gd name="adj" fmla="val 47059"/>
            </a:avLst>
          </a:prstGeom>
          <a:solidFill>
            <a:srgbClr val="D9EBE7"/>
          </a:solidFill>
          <a:ln w="0">
            <a:solidFill>
              <a:srgbClr val="D9EBE7"/>
            </a:solidFill>
            <a:prstDash val="solid"/>
          </a:ln>
        </p:spPr>
        <p:txBody>
          <a:bodyPr anchor="ctr">
            <a:normAutofit fontScale="96949" lnSpcReduction="10000"/>
          </a:bodyPr>
          <a:lstStyle/>
          <a:p>
            <a:pPr algn="ctr">
              <a:defRPr sz="1050" b="1">
                <a:solidFill>
                  <a:srgbClr val="1023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32"/>
                </a:solidFill>
                <a:latin typeface="Aptos"/>
                <a:ea typeface="Aptos"/>
                <a:cs typeface="Aptos"/>
              </a:rPr>
              <a:t>About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017F46E-B002-442B-9B81-723EDA22BC6A}"/>
              </a:ext>
            </a:extLst>
          </p:cNvPr>
          <p:cNvSpPr>
            <a:spLocks noGrp="1"/>
          </p:cNvSpPr>
          <p:nvPr/>
        </p:nvSpPr>
        <p:spPr>
          <a:xfrm>
            <a:off x="1200150" y="2152650"/>
            <a:ext cx="97917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BFF290-D6CC-42D9-9E54-C85109475BB1}"/>
              </a:ext>
            </a:extLst>
          </p:cNvPr>
          <p:cNvSpPr>
            <a:spLocks noGrp="1"/>
          </p:cNvSpPr>
          <p:nvPr/>
        </p:nvSpPr>
        <p:spPr>
          <a:xfrm>
            <a:off x="8382000" y="24574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97287" lnSpcReduction="10000"/>
          </a:bodyPr>
          <a:lstStyle/>
          <a:p>
            <a:pPr algn="r">
              <a:lnSpc>
                <a:spcPct val="110000"/>
              </a:lnSpc>
              <a:buNone/>
              <a:defRPr sz="2025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2025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نمونه جریان کار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216362-960B-4456-B416-BFAAA31B08E3}"/>
              </a:ext>
            </a:extLst>
          </p:cNvPr>
          <p:cNvSpPr>
            <a:spLocks noGrp="1"/>
          </p:cNvSpPr>
          <p:nvPr/>
        </p:nvSpPr>
        <p:spPr>
          <a:xfrm>
            <a:off x="1790700" y="3048000"/>
            <a:ext cx="8382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114300" bIns="38100">
            <a:normAutofit/>
          </a:bodyPr>
          <a:lstStyle/>
          <a:p>
            <a:pPr marL="22" indent="-12" algn="r">
              <a:lnSpc>
                <a:spcPct val="125000"/>
              </a:lnSpc>
              <a:buNone/>
              <a:defRPr sz="172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725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کاربر پیام را وارد می‌کند و روش رمزنگاری را انتخاب می‌کند</a:t>
            </a:r>
          </a:p>
          <a:p>
            <a:pPr marL="22" indent="-12" algn="r">
              <a:lnSpc>
                <a:spcPct val="125000"/>
              </a:lnSpc>
              <a:buNone/>
              <a:defRPr sz="172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725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برنامه کلید مناسب را از دوست، راز مشترک یا Ratchet پیدا می‌کند</a:t>
            </a:r>
          </a:p>
          <a:p>
            <a:pPr marL="22" indent="-12" algn="r">
              <a:lnSpc>
                <a:spcPct val="125000"/>
              </a:lnSpc>
              <a:buNone/>
              <a:defRPr sz="172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725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خروجی Base64 تولید می‌شود و می‌تواند از هر کانالی ارسال شود</a:t>
            </a:r>
          </a:p>
          <a:p>
            <a:pPr marL="22" indent="-12" algn="r">
              <a:lnSpc>
                <a:spcPct val="125000"/>
              </a:lnSpc>
              <a:buNone/>
              <a:defRPr sz="172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725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گیرنده با همان برنامه پیام را رمزگشایی و امضا را بررسی می‌کند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8C1C12-1EF2-416B-AB15-D919FE98E2C0}"/>
              </a:ext>
            </a:extLst>
          </p:cNvPr>
          <p:cNvSpPr>
            <a:spLocks noGrp="1"/>
          </p:cNvSpPr>
          <p:nvPr/>
        </p:nvSpPr>
        <p:spPr>
          <a:xfrm>
            <a:off x="7858125" y="64389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00" b="0">
                <a:solidFill>
                  <a:srgbClr val="5A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B78"/>
                </a:solidFill>
                <a:latin typeface="Aptos"/>
                <a:ea typeface="Aptos"/>
                <a:cs typeface="Aptos"/>
              </a:rPr>
              <a:t>Ultimate Enigma Messenger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F9905F-3EB0-478E-9EA1-CBE4FE39ED44}"/>
              </a:ext>
            </a:extLst>
          </p:cNvPr>
          <p:cNvSpPr>
            <a:spLocks noGrp="1"/>
          </p:cNvSpPr>
          <p:nvPr/>
        </p:nvSpPr>
        <p:spPr>
          <a:xfrm>
            <a:off x="704850" y="6457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4495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F3C3873-9360-498F-9D48-7AB94D2E19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5F4"/>
          </a:solidFill>
          <a:ln w="0">
            <a:solidFill>
              <a:srgbClr val="EEF5F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428EE7-C388-4EFB-8568-757D7B77DA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AEE58B-8166-4043-AC7F-942C756F87AC}"/>
              </a:ext>
            </a:extLst>
          </p:cNvPr>
          <p:cNvSpPr>
            <a:spLocks noGrp="1"/>
          </p:cNvSpPr>
          <p:nvPr/>
        </p:nvSpPr>
        <p:spPr>
          <a:xfrm>
            <a:off x="4953000" y="22860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2475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2475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کیفیت و آزمون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D96F48-9FF4-47DE-A948-4D4B7D95C4F5}"/>
              </a:ext>
            </a:extLst>
          </p:cNvPr>
          <p:cNvSpPr>
            <a:spLocks noGrp="1"/>
          </p:cNvSpPr>
          <p:nvPr/>
        </p:nvSpPr>
        <p:spPr>
          <a:xfrm>
            <a:off x="838200" y="30480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200" b="0">
                <a:solidFill>
                  <a:srgbClr val="5A6B78"/>
                </a:solidFill>
                <a:latin typeface="Vazirmatn"/>
                <a:ea typeface="Vazirmatn"/>
                <a:cs typeface="Vazirmatn"/>
              </a:defRPr>
            </a:pPr>
            <a:r>
              <a:rPr sz="1200" b="0">
                <a:solidFill>
                  <a:srgbClr val="5A6B78"/>
                </a:solidFill>
                <a:latin typeface="Vazirmatn"/>
                <a:ea typeface="Vazirmatn"/>
                <a:cs typeface="Vazirmatn"/>
              </a:rPr>
              <a:t>پروژه فقط ایده نیست؛ تست دارد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1A10B7-AF7F-4B4C-BDCB-0FE1D10E761C}"/>
              </a:ext>
            </a:extLst>
          </p:cNvPr>
          <p:cNvSpPr>
            <a:spLocks noGrp="1"/>
          </p:cNvSpPr>
          <p:nvPr/>
        </p:nvSpPr>
        <p:spPr>
          <a:xfrm>
            <a:off x="7810500" y="1524000"/>
            <a:ext cx="2857500" cy="2381250"/>
          </a:xfrm>
          <a:prstGeom prst="roundRect">
            <a:avLst>
              <a:gd name="adj" fmla="val 3200"/>
            </a:avLst>
          </a:prstGeom>
          <a:solidFill>
            <a:srgbClr val="081826"/>
          </a:solidFill>
          <a:ln w="9525">
            <a:solidFill>
              <a:srgbClr val="1739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497B0C-9DFC-4A52-AD7F-85DA8FA3DA31}"/>
              </a:ext>
            </a:extLst>
          </p:cNvPr>
          <p:cNvSpPr>
            <a:spLocks noGrp="1"/>
          </p:cNvSpPr>
          <p:nvPr/>
        </p:nvSpPr>
        <p:spPr>
          <a:xfrm>
            <a:off x="8096250" y="1885950"/>
            <a:ext cx="228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90360" lnSpcReduction="10000"/>
          </a:bodyPr>
          <a:lstStyle/>
          <a:p>
            <a:pPr algn="ctr">
              <a:lnSpc>
                <a:spcPct val="110000"/>
              </a:lnSpc>
              <a:buNone/>
              <a:defRPr sz="4800" b="1">
                <a:solidFill>
                  <a:srgbClr val="F4B942"/>
                </a:solidFill>
                <a:latin typeface="Vazirmatn"/>
                <a:ea typeface="Vazirmatn"/>
                <a:cs typeface="Vazirmatn"/>
              </a:defRPr>
            </a:pPr>
            <a:r>
              <a:rPr sz="4800" b="1" dirty="0">
                <a:solidFill>
                  <a:srgbClr val="F4B942"/>
                </a:solidFill>
                <a:latin typeface="Vazirmatn"/>
                <a:ea typeface="Vazirmatn"/>
                <a:cs typeface="Vazirmatn"/>
              </a:rPr>
              <a:t>+</a:t>
            </a:r>
            <a:r>
              <a:rPr lang="en-US" sz="4800" b="1" dirty="0">
                <a:solidFill>
                  <a:srgbClr val="F4B942"/>
                </a:solidFill>
                <a:latin typeface="Vazirmatn"/>
                <a:ea typeface="Vazirmatn"/>
                <a:cs typeface="Vazirmatn"/>
              </a:rPr>
              <a:t>926</a:t>
            </a:r>
            <a:endParaRPr sz="4800" b="1" dirty="0">
              <a:solidFill>
                <a:srgbClr val="F4B942"/>
              </a:solidFill>
              <a:latin typeface="Vazirmatn"/>
              <a:ea typeface="Vazirmatn"/>
              <a:cs typeface="Vazirmat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EC587D-C964-4A0C-84F5-4140FE44155A}"/>
              </a:ext>
            </a:extLst>
          </p:cNvPr>
          <p:cNvSpPr>
            <a:spLocks noGrp="1"/>
          </p:cNvSpPr>
          <p:nvPr/>
        </p:nvSpPr>
        <p:spPr>
          <a:xfrm>
            <a:off x="8239125" y="27622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99068"/>
          </a:bodyPr>
          <a:lstStyle/>
          <a:p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Vazirmatn"/>
                <a:ea typeface="Vazirmatn"/>
                <a:cs typeface="Vazirmatn"/>
              </a:defRPr>
            </a:pPr>
            <a:r>
              <a:rPr sz="195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تست خودکار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38F049-E708-465C-8F52-6A35B89E1CE9}"/>
              </a:ext>
            </a:extLst>
          </p:cNvPr>
          <p:cNvSpPr>
            <a:spLocks noGrp="1"/>
          </p:cNvSpPr>
          <p:nvPr/>
        </p:nvSpPr>
        <p:spPr>
          <a:xfrm>
            <a:off x="8286750" y="32766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90909" lnSpcReduction="10000"/>
          </a:bodyPr>
          <a:lstStyle/>
          <a:p>
            <a:pPr algn="ctr">
              <a:lnSpc>
                <a:spcPct val="110000"/>
              </a:lnSpc>
              <a:buNone/>
              <a:defRPr sz="1500" b="0">
                <a:solidFill>
                  <a:srgbClr val="DBE9E6"/>
                </a:solidFill>
                <a:latin typeface="Vazirmatn"/>
                <a:ea typeface="Vazirmatn"/>
                <a:cs typeface="Vazirmatn"/>
              </a:defRPr>
            </a:pPr>
            <a:r>
              <a:rPr sz="1500" b="0">
                <a:solidFill>
                  <a:srgbClr val="DBE9E6"/>
                </a:solidFill>
                <a:latin typeface="Vazirmatn"/>
                <a:ea typeface="Vazirmatn"/>
                <a:cs typeface="Vazirmatn"/>
              </a:rPr>
              <a:t>در ۳۶ فایل تست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7F8A68-39FB-4A58-8FE4-FB825068AEDE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5334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114300" bIns="38100">
            <a:normAutofit/>
          </a:bodyPr>
          <a:lstStyle/>
          <a:p>
            <a:pPr marL="22" indent="-12" algn="r">
              <a:lnSpc>
                <a:spcPct val="125000"/>
              </a:lnSpc>
              <a:buNone/>
              <a:defRPr sz="172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725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تست رمزنگاری، پایگاه داده، رمز یک‌بارمصرف، رتچت دوگانه و پساکوانتومی</a:t>
            </a:r>
          </a:p>
          <a:p>
            <a:pPr marL="22" indent="-12" algn="r">
              <a:lnSpc>
                <a:spcPct val="125000"/>
              </a:lnSpc>
              <a:buNone/>
              <a:defRPr sz="172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725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تست ضد دستکاری با شبیه‌سازی رابط‌های ویندوز</a:t>
            </a:r>
          </a:p>
          <a:p>
            <a:pPr marL="22" indent="-12" algn="r">
              <a:lnSpc>
                <a:spcPct val="125000"/>
              </a:lnSpc>
              <a:buNone/>
              <a:defRPr sz="172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725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fixture ایزوله برای پایگاه داده تا تست‌ها روی داده واقعی اثر نگذارند</a:t>
            </a:r>
          </a:p>
          <a:p>
            <a:pPr marL="22" indent="-12" algn="r">
              <a:lnSpc>
                <a:spcPct val="125000"/>
              </a:lnSpc>
              <a:buNone/>
              <a:defRPr sz="172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725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تست خطاها، زمان‌سنجی، همزمانی و پاک‌سازی حافظه</a:t>
            </a:r>
          </a:p>
        </p:txBody>
      </p:sp>
      <p:graphicFrame>
        <p:nvGraphicFramePr>
          <p:cNvPr id="22" name="Chart"/>
          <p:cNvGraphicFramePr/>
          <p:nvPr>
            <p:extLst>
              <p:ext uri="{D42A27DB-BD31-4B8C-83A1-F6EECF244321}">
                <p14:modId xmlns:p14="http://schemas.microsoft.com/office/powerpoint/2010/main" val="1996726560"/>
              </p:ext>
            </p:extLst>
          </p:nvPr>
        </p:nvGraphicFramePr>
        <p:xfrm>
          <a:off x="1619250" y="4495800"/>
          <a:ext cx="9287562" cy="123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FC69AD98-CEFD-41F1-A8F2-2EEC88C5A2E0}"/>
              </a:ext>
            </a:extLst>
          </p:cNvPr>
          <p:cNvSpPr>
            <a:spLocks noGrp="1"/>
          </p:cNvSpPr>
          <p:nvPr/>
        </p:nvSpPr>
        <p:spPr>
          <a:xfrm>
            <a:off x="7858125" y="64389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00" b="0">
                <a:solidFill>
                  <a:srgbClr val="5A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B78"/>
                </a:solidFill>
                <a:latin typeface="Aptos"/>
                <a:ea typeface="Aptos"/>
                <a:cs typeface="Aptos"/>
              </a:rPr>
              <a:t>Ultimate Enigma Messenger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57ED69-0ED2-4770-BC69-EB645A375250}"/>
              </a:ext>
            </a:extLst>
          </p:cNvPr>
          <p:cNvSpPr>
            <a:spLocks noGrp="1"/>
          </p:cNvSpPr>
          <p:nvPr/>
        </p:nvSpPr>
        <p:spPr>
          <a:xfrm>
            <a:off x="704850" y="6457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8430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078F4F3-3195-485C-9993-9FAD7BEC54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5F4"/>
          </a:solidFill>
          <a:ln w="0">
            <a:solidFill>
              <a:srgbClr val="EEF5F4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E0F979-8B2C-4846-B663-D110D611B0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9BDBC9-2E38-4AF8-9F78-B70D9EA7C630}"/>
              </a:ext>
            </a:extLst>
          </p:cNvPr>
          <p:cNvSpPr>
            <a:spLocks noGrp="1"/>
          </p:cNvSpPr>
          <p:nvPr/>
        </p:nvSpPr>
        <p:spPr>
          <a:xfrm>
            <a:off x="4953000" y="22860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2475" b="1">
                <a:solidFill>
                  <a:srgbClr val="102332"/>
                </a:solidFill>
                <a:latin typeface="Vazirmatn"/>
                <a:ea typeface="Vazirmatn"/>
                <a:cs typeface="Vazirmatn"/>
              </a:defRPr>
            </a:pPr>
            <a:r>
              <a:rPr sz="2475" b="1">
                <a:solidFill>
                  <a:srgbClr val="102332"/>
                </a:solidFill>
                <a:latin typeface="Vazirmatn"/>
                <a:ea typeface="Vazirmatn"/>
                <a:cs typeface="Vazirmatn"/>
              </a:rPr>
              <a:t>محدودیت‌ها و مسیر آینده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856D9-3742-474E-8C31-06A06BEB342F}"/>
              </a:ext>
            </a:extLst>
          </p:cNvPr>
          <p:cNvSpPr>
            <a:spLocks noGrp="1"/>
          </p:cNvSpPr>
          <p:nvPr/>
        </p:nvSpPr>
        <p:spPr>
          <a:xfrm>
            <a:off x="838200" y="30480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r">
              <a:lnSpc>
                <a:spcPct val="110000"/>
              </a:lnSpc>
              <a:buNone/>
              <a:defRPr sz="1200" b="0">
                <a:solidFill>
                  <a:srgbClr val="5A6B78"/>
                </a:solidFill>
                <a:latin typeface="Vazirmatn"/>
                <a:ea typeface="Vazirmatn"/>
                <a:cs typeface="Vazirmatn"/>
              </a:defRPr>
            </a:pPr>
            <a:r>
              <a:rPr sz="1200" b="0">
                <a:solidFill>
                  <a:srgbClr val="5A6B78"/>
                </a:solidFill>
                <a:latin typeface="Vazirmatn"/>
                <a:ea typeface="Vazirmatn"/>
                <a:cs typeface="Vazirmatn"/>
              </a:rPr>
              <a:t>نگاه صادقانه به امنیت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E140AC-8CCB-4D26-A07B-4D1DB635BDCC}"/>
              </a:ext>
            </a:extLst>
          </p:cNvPr>
          <p:cNvSpPr>
            <a:spLocks noGrp="1"/>
          </p:cNvSpPr>
          <p:nvPr/>
        </p:nvSpPr>
        <p:spPr>
          <a:xfrm>
            <a:off x="7000875" y="1476375"/>
            <a:ext cx="371475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6D6881-3E80-49C7-B395-98B8AB25588B}"/>
              </a:ext>
            </a:extLst>
          </p:cNvPr>
          <p:cNvSpPr>
            <a:spLocks noGrp="1"/>
          </p:cNvSpPr>
          <p:nvPr/>
        </p:nvSpPr>
        <p:spPr>
          <a:xfrm>
            <a:off x="8763000" y="1762125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86288" lnSpcReduction="10000"/>
          </a:bodyPr>
          <a:lstStyle/>
          <a:p>
            <a:pPr algn="r">
              <a:lnSpc>
                <a:spcPct val="110000"/>
              </a:lnSpc>
              <a:buNone/>
              <a:defRPr sz="1875" b="1">
                <a:solidFill>
                  <a:srgbClr val="C2410C"/>
                </a:solidFill>
                <a:latin typeface="Vazirmatn"/>
                <a:ea typeface="Vazirmatn"/>
                <a:cs typeface="Vazirmatn"/>
              </a:defRPr>
            </a:pPr>
            <a:r>
              <a:rPr sz="1875" b="1">
                <a:solidFill>
                  <a:srgbClr val="C2410C"/>
                </a:solidFill>
                <a:latin typeface="Vazirmatn"/>
                <a:ea typeface="Vazirmatn"/>
                <a:cs typeface="Vazirmatn"/>
              </a:rPr>
              <a:t>محدودیت‌ها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5BA1C4-89F9-4C73-AEA3-2E190650D464}"/>
              </a:ext>
            </a:extLst>
          </p:cNvPr>
          <p:cNvSpPr>
            <a:spLocks noGrp="1"/>
          </p:cNvSpPr>
          <p:nvPr/>
        </p:nvSpPr>
        <p:spPr>
          <a:xfrm>
            <a:off x="7381875" y="2266950"/>
            <a:ext cx="290512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114300" bIns="38100">
            <a:normAutofit fontScale="92500" lnSpcReduction="10000"/>
          </a:bodyPr>
          <a:lstStyle/>
          <a:p>
            <a:pPr marL="22" indent="-12" algn="r">
              <a:lnSpc>
                <a:spcPct val="125000"/>
              </a:lnSpc>
              <a:buNone/>
              <a:defRPr sz="157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575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Self-destruct تضمین حذف روی دستگاه گیرنده نیست</a:t>
            </a:r>
          </a:p>
          <a:p>
            <a:pPr marL="22" indent="-12" algn="r">
              <a:lnSpc>
                <a:spcPct val="125000"/>
              </a:lnSpc>
              <a:buNone/>
              <a:defRPr sz="157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575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ضد دستکاری فقط در نسخه exe فعال می‌شود</a:t>
            </a:r>
          </a:p>
          <a:p>
            <a:pPr marL="22" indent="-12" algn="r">
              <a:lnSpc>
                <a:spcPct val="125000"/>
              </a:lnSpc>
              <a:buNone/>
              <a:defRPr sz="157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575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PQC به liboqs و DLL مناسب نیاز دارد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FD7E91-ACEE-4754-A708-D63D664423A5}"/>
              </a:ext>
            </a:extLst>
          </p:cNvPr>
          <p:cNvSpPr>
            <a:spLocks noGrp="1"/>
          </p:cNvSpPr>
          <p:nvPr/>
        </p:nvSpPr>
        <p:spPr>
          <a:xfrm>
            <a:off x="1524000" y="1476375"/>
            <a:ext cx="4191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7E2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8D5C8C-5084-4FC6-82E9-FAF029D5BDBB}"/>
              </a:ext>
            </a:extLst>
          </p:cNvPr>
          <p:cNvSpPr>
            <a:spLocks noGrp="1"/>
          </p:cNvSpPr>
          <p:nvPr/>
        </p:nvSpPr>
        <p:spPr>
          <a:xfrm>
            <a:off x="3667125" y="17621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86288" lnSpcReduction="10000"/>
          </a:bodyPr>
          <a:lstStyle/>
          <a:p>
            <a:pPr algn="r">
              <a:lnSpc>
                <a:spcPct val="110000"/>
              </a:lnSpc>
              <a:buNone/>
              <a:defRPr sz="1875" b="1">
                <a:solidFill>
                  <a:srgbClr val="0F766E"/>
                </a:solidFill>
                <a:latin typeface="Vazirmatn"/>
                <a:ea typeface="Vazirmatn"/>
                <a:cs typeface="Vazirmatn"/>
              </a:defRPr>
            </a:pPr>
            <a:r>
              <a:rPr sz="1875" b="1">
                <a:solidFill>
                  <a:srgbClr val="0F766E"/>
                </a:solidFill>
                <a:latin typeface="Vazirmatn"/>
                <a:ea typeface="Vazirmatn"/>
                <a:cs typeface="Vazirmatn"/>
              </a:rPr>
              <a:t>گام‌های بعدی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B0DC82-5337-4CE4-8967-3188C83A76B5}"/>
              </a:ext>
            </a:extLst>
          </p:cNvPr>
          <p:cNvSpPr>
            <a:spLocks noGrp="1"/>
          </p:cNvSpPr>
          <p:nvPr/>
        </p:nvSpPr>
        <p:spPr>
          <a:xfrm>
            <a:off x="1952625" y="2266950"/>
            <a:ext cx="31432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114300" bIns="38100">
            <a:normAutofit/>
          </a:bodyPr>
          <a:lstStyle/>
          <a:p>
            <a:pPr marL="22" indent="-12" algn="r">
              <a:lnSpc>
                <a:spcPct val="125000"/>
              </a:lnSpc>
              <a:buNone/>
              <a:defRPr sz="157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575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بهبود بسته‌بندی نصب ویندوز</a:t>
            </a:r>
          </a:p>
          <a:p>
            <a:pPr marL="22" indent="-12" algn="r">
              <a:lnSpc>
                <a:spcPct val="125000"/>
              </a:lnSpc>
              <a:buNone/>
              <a:defRPr sz="157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575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افزودن راهنمای تصویری داخل برنامه</a:t>
            </a:r>
          </a:p>
          <a:p>
            <a:pPr marL="22" indent="-12" algn="r">
              <a:lnSpc>
                <a:spcPct val="125000"/>
              </a:lnSpc>
              <a:buNone/>
              <a:defRPr sz="157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575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بررسی امنیتی مستقل و افزایش پوشش تست</a:t>
            </a:r>
          </a:p>
          <a:p>
            <a:pPr marL="22" indent="-12" algn="r">
              <a:lnSpc>
                <a:spcPct val="125000"/>
              </a:lnSpc>
              <a:buNone/>
              <a:defRPr sz="1575">
                <a:solidFill>
                  <a:srgbClr val="142335"/>
                </a:solidFill>
                <a:latin typeface="Vazirmatn"/>
                <a:ea typeface="Vazirmatn"/>
                <a:cs typeface="Vazirmatn"/>
              </a:defRPr>
            </a:pPr>
            <a:r>
              <a:rPr sz="1575">
                <a:solidFill>
                  <a:srgbClr val="142335"/>
                </a:solidFill>
                <a:latin typeface="Vazirmatn"/>
                <a:ea typeface="Vazirmatn"/>
                <a:cs typeface="Vazirmatn"/>
              </a:rPr>
              <a:t>افزودن export/import ساده‌تر برای تبادل کلیدها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3E8025-C11F-4D7D-9D6D-FE5D3839A569}"/>
              </a:ext>
            </a:extLst>
          </p:cNvPr>
          <p:cNvSpPr>
            <a:spLocks noGrp="1"/>
          </p:cNvSpPr>
          <p:nvPr/>
        </p:nvSpPr>
        <p:spPr>
          <a:xfrm>
            <a:off x="7858125" y="64389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900" b="0">
                <a:solidFill>
                  <a:srgbClr val="5A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B78"/>
                </a:solidFill>
                <a:latin typeface="Aptos"/>
                <a:ea typeface="Aptos"/>
                <a:cs typeface="Aptos"/>
              </a:rPr>
              <a:t>Ultimate Enigma Messenger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C7FF7F-C611-4A95-B9D3-AA7F300D715B}"/>
              </a:ext>
            </a:extLst>
          </p:cNvPr>
          <p:cNvSpPr>
            <a:spLocks noGrp="1"/>
          </p:cNvSpPr>
          <p:nvPr/>
        </p:nvSpPr>
        <p:spPr>
          <a:xfrm>
            <a:off x="704850" y="6457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21808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692032-F0CF-44EC-9F6B-D4CF80ED66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826"/>
          </a:solidFill>
          <a:ln w="0">
            <a:solidFill>
              <a:srgbClr val="081826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B169ED-6F0A-4F28-A3B9-FC872DF83673}"/>
              </a:ext>
            </a:extLst>
          </p:cNvPr>
          <p:cNvSpPr>
            <a:spLocks noGrp="1"/>
          </p:cNvSpPr>
          <p:nvPr/>
        </p:nvSpPr>
        <p:spPr>
          <a:xfrm>
            <a:off x="0" y="5734050"/>
            <a:ext cx="12192000" cy="1123950"/>
          </a:xfrm>
          <a:prstGeom prst="rect">
            <a:avLst/>
          </a:prstGeom>
          <a:solidFill>
            <a:srgbClr val="0F2A35"/>
          </a:solidFill>
          <a:ln w="0">
            <a:solidFill>
              <a:srgbClr val="0F2A35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09ECF4-9399-4530-BDDD-751E50FDF521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219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89532" lnSpcReduction="10000"/>
          </a:bodyPr>
          <a:lstStyle/>
          <a:p>
            <a:pPr algn="ctr">
              <a:lnSpc>
                <a:spcPct val="110000"/>
              </a:lnSpc>
              <a:buNone/>
              <a:defRPr sz="3300" b="1">
                <a:solidFill>
                  <a:srgbClr val="F4B942"/>
                </a:solidFill>
                <a:latin typeface="Vazirmatn"/>
                <a:ea typeface="Vazirmatn"/>
                <a:cs typeface="Vazirmatn"/>
              </a:defRPr>
            </a:pPr>
            <a:r>
              <a:rPr sz="3300" b="1">
                <a:solidFill>
                  <a:srgbClr val="F4B942"/>
                </a:solidFill>
                <a:latin typeface="Vazirmatn"/>
                <a:ea typeface="Vazirmatn"/>
                <a:cs typeface="Vazirmatn"/>
              </a:rPr>
              <a:t>جمع‌بندی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F5FECD-89F5-4AC5-97AD-12AAD63DEBFB}"/>
              </a:ext>
            </a:extLst>
          </p:cNvPr>
          <p:cNvSpPr>
            <a:spLocks noGrp="1"/>
          </p:cNvSpPr>
          <p:nvPr/>
        </p:nvSpPr>
        <p:spPr>
          <a:xfrm>
            <a:off x="2000250" y="2000250"/>
            <a:ext cx="8191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/>
          </a:bodyPr>
          <a:lstStyle/>
          <a:p>
            <a:pPr algn="ctr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Vazirmatn"/>
                <a:ea typeface="Vazirmatn"/>
                <a:cs typeface="Vazirmatn"/>
              </a:defRPr>
            </a:pPr>
            <a:r>
              <a:rPr sz="2025" b="0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Ultimate Enigma Messenger نشان می‌دهد که می‌توان مفاهیم پیشرفته امنیتی را در یک نرم‌افزار دسکتاپ قابل استفاده پیاده‌سازی کرد: رمزنگاری ترکیبی، مدیریت کلید، احراز هویت، امنیت حافظه، تست گسترده و معماری قابل توسعه.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355B52-3DF5-46EA-B351-0BB36CFD7122}"/>
              </a:ext>
            </a:extLst>
          </p:cNvPr>
          <p:cNvSpPr>
            <a:spLocks noGrp="1"/>
          </p:cNvSpPr>
          <p:nvPr/>
        </p:nvSpPr>
        <p:spPr>
          <a:xfrm>
            <a:off x="3000375" y="4095750"/>
            <a:ext cx="6191250" cy="819150"/>
          </a:xfrm>
          <a:prstGeom prst="roundRect">
            <a:avLst>
              <a:gd name="adj" fmla="val 9302"/>
            </a:avLst>
          </a:prstGeom>
          <a:solidFill>
            <a:srgbClr val="0F2A35"/>
          </a:solidFill>
          <a:ln w="9525">
            <a:solidFill>
              <a:srgbClr val="2449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7E1EF6-05E5-448B-A664-092485020B37}"/>
              </a:ext>
            </a:extLst>
          </p:cNvPr>
          <p:cNvSpPr>
            <a:spLocks noGrp="1"/>
          </p:cNvSpPr>
          <p:nvPr/>
        </p:nvSpPr>
        <p:spPr>
          <a:xfrm>
            <a:off x="3333750" y="4305300"/>
            <a:ext cx="552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69137" lnSpcReduction="20000"/>
          </a:bodyPr>
          <a:lstStyle/>
          <a:p>
            <a:pPr algn="ctr">
              <a:lnSpc>
                <a:spcPct val="110000"/>
              </a:lnSpc>
              <a:buNone/>
              <a:defRPr sz="1725" b="0">
                <a:solidFill>
                  <a:srgbClr val="E3F0ED"/>
                </a:solidFill>
                <a:latin typeface="Vazirmatn"/>
                <a:ea typeface="Vazirmatn"/>
                <a:cs typeface="Vazirmatn"/>
              </a:defRPr>
            </a:pPr>
            <a:r>
              <a:rPr sz="1725" b="0">
                <a:solidFill>
                  <a:srgbClr val="E3F0ED"/>
                </a:solidFill>
                <a:latin typeface="Vazirmatn"/>
                <a:ea typeface="Vazirmatn"/>
                <a:cs typeface="Vazirmatn"/>
              </a:rPr>
              <a:t>حریم خصوصی زمانی واقعی است که طراحی، پیاده‌سازی و تجربه کاربری کنار هم قرار بگیرند.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088D2B-3551-4509-A5FB-5C540102F0D9}"/>
              </a:ext>
            </a:extLst>
          </p:cNvPr>
          <p:cNvSpPr>
            <a:spLocks noGrp="1"/>
          </p:cNvSpPr>
          <p:nvPr/>
        </p:nvSpPr>
        <p:spPr>
          <a:xfrm>
            <a:off x="0" y="5772150"/>
            <a:ext cx="1219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>
            <a:normAutofit fontScale="99491" lnSpcReduction="10000"/>
          </a:bodyPr>
          <a:lstStyle/>
          <a:p>
            <a:pPr algn="ctr">
              <a:lnSpc>
                <a:spcPct val="110000"/>
              </a:lnSpc>
              <a:buNone/>
              <a:defRPr sz="2100" b="1">
                <a:solidFill>
                  <a:srgbClr val="9FD8C4"/>
                </a:solidFill>
                <a:latin typeface="Vazirmatn"/>
                <a:ea typeface="Vazirmatn"/>
                <a:cs typeface="Vazirmatn"/>
              </a:defRPr>
            </a:pPr>
            <a:r>
              <a:rPr sz="2100" b="1">
                <a:solidFill>
                  <a:srgbClr val="9FD8C4"/>
                </a:solidFill>
                <a:latin typeface="Vazirmatn"/>
                <a:ea typeface="Vazirmatn"/>
                <a:cs typeface="Vazirmatn"/>
              </a:rPr>
              <a:t>سپاس از توجه شما</a:t>
            </a:r>
          </a:p>
        </p:txBody>
      </p:sp>
    </p:spTree>
    <p:extLst>
      <p:ext uri="{BB962C8B-B14F-4D97-AF65-F5344CB8AC3E}">
        <p14:creationId xmlns:p14="http://schemas.microsoft.com/office/powerpoint/2010/main" val="1979040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666</Words>
  <Application>Microsoft Office PowerPoint</Application>
  <DocSecurity>0</DocSecurity>
  <PresentationFormat>Widescreen</PresentationFormat>
  <Paragraphs>130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Calibri</vt:lpstr>
      <vt:lpstr>Vazirmatn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xvile Channel</cp:lastModifiedBy>
  <cp:revision>3</cp:revision>
  <dcterms:created xsi:type="dcterms:W3CDTF">2026-06-19T14:21:54Z</dcterms:created>
  <dcterms:modified xsi:type="dcterms:W3CDTF">2026-06-19T14:40:15Z</dcterms:modified>
</cp:coreProperties>
</file>